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1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99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21240" y="0"/>
            <a:ext cx="2276856" cy="6858000"/>
          </a:xfrm>
          <a:prstGeom prst="rect">
            <a:avLst/>
          </a:prstGeom>
          <a:solidFill>
            <a:srgbClr val="3E22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960120"/>
            <a:ext cx="3566160" cy="347472"/>
          </a:xfrm>
          <a:prstGeom prst="roundRect">
            <a:avLst>
              <a:gd name="adj" fmla="val 50000"/>
            </a:avLst>
          </a:prstGeom>
          <a:solidFill>
            <a:srgbClr val="C454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005840"/>
            <a:ext cx="3566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NE YAP  •  NEREYE BAK  •  BUGÜN BAŞLA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508760"/>
            <a:ext cx="9144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7 günde hızlı
manifest teknikleri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063240"/>
            <a:ext cx="8961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ECDCE8"/>
                </a:solidFill>
                <a:latin typeface="Calibri"/>
              </a:rPr>
              <a:t>Tek istek seç. Aynı cümleyi 3-6-9 yaz. Gece olmuş gibi uyu.
Gündüz bir somut adım at. Hız buradan gelir.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931920"/>
            <a:ext cx="5623560" cy="457200"/>
          </a:xfrm>
          <a:prstGeom prst="roundRect">
            <a:avLst>
              <a:gd name="adj" fmla="val 50000"/>
            </a:avLst>
          </a:prstGeom>
          <a:solidFill>
            <a:srgbClr val="C99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4005072"/>
            <a:ext cx="56235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 i="0">
                <a:solidFill>
                  <a:srgbClr val="2A163A"/>
                </a:solidFill>
                <a:latin typeface="Calibri"/>
              </a:rPr>
              <a:t>Hedef: 7 gün sonra otomatik alışkanlık</a:t>
            </a:r>
          </a:p>
        </p:txBody>
      </p:sp>
      <p:sp>
        <p:nvSpPr>
          <p:cNvPr id="11" name="Oval 10"/>
          <p:cNvSpPr/>
          <p:nvPr/>
        </p:nvSpPr>
        <p:spPr>
          <a:xfrm>
            <a:off x="10515600" y="1325880"/>
            <a:ext cx="822960" cy="822960"/>
          </a:xfrm>
          <a:prstGeom prst="ellipse">
            <a:avLst/>
          </a:prstGeom>
          <a:solidFill>
            <a:srgbClr val="C454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0" y="1545336"/>
            <a:ext cx="822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2203704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Netleş</a:t>
            </a:r>
          </a:p>
        </p:txBody>
      </p:sp>
      <p:sp>
        <p:nvSpPr>
          <p:cNvPr id="14" name="Oval 13"/>
          <p:cNvSpPr/>
          <p:nvPr/>
        </p:nvSpPr>
        <p:spPr>
          <a:xfrm>
            <a:off x="10515600" y="2743200"/>
            <a:ext cx="822960" cy="822960"/>
          </a:xfrm>
          <a:prstGeom prst="ellipse">
            <a:avLst/>
          </a:prstGeom>
          <a:solidFill>
            <a:srgbClr val="C454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0" y="2962656"/>
            <a:ext cx="822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3621024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Hisset</a:t>
            </a:r>
          </a:p>
        </p:txBody>
      </p:sp>
      <p:sp>
        <p:nvSpPr>
          <p:cNvPr id="17" name="Oval 16"/>
          <p:cNvSpPr/>
          <p:nvPr/>
        </p:nvSpPr>
        <p:spPr>
          <a:xfrm>
            <a:off x="10515600" y="4160520"/>
            <a:ext cx="822960" cy="822960"/>
          </a:xfrm>
          <a:prstGeom prst="ellipse">
            <a:avLst/>
          </a:prstGeom>
          <a:solidFill>
            <a:srgbClr val="C99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0" y="4379976"/>
            <a:ext cx="822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5038344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Hareket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263640"/>
            <a:ext cx="8686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C4B0CC"/>
                </a:solidFill>
                <a:latin typeface="Calibri"/>
              </a:rPr>
              <a:t>Pratik protokol  •  ezoterik vaat değil, günlük sistem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15568"/>
          </a:xfrm>
          <a:prstGeom prst="rect">
            <a:avLst/>
          </a:prstGeom>
          <a:solidFill>
            <a:srgbClr val="2A1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695" cy="73152"/>
          </a:xfrm>
          <a:prstGeom prst="rect">
            <a:avLst/>
          </a:prstGeom>
          <a:solidFill>
            <a:srgbClr val="C99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5760" y="146304"/>
            <a:ext cx="2011680" cy="256032"/>
          </a:xfrm>
          <a:prstGeom prst="roundRect">
            <a:avLst>
              <a:gd name="adj" fmla="val 50000"/>
            </a:avLst>
          </a:prstGeom>
          <a:solidFill>
            <a:srgbClr val="C454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64592"/>
            <a:ext cx="20116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Çerçeve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38912"/>
            <a:ext cx="113385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Hızlı sonuç isteyenler neyi yanlış anlıyor?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822960"/>
            <a:ext cx="113385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E6D6EC"/>
                </a:solidFill>
                <a:latin typeface="Calibri"/>
              </a:rPr>
              <a:t>Sadece hayal etmek yetmez. Hız = netlik + his + bugünkü adım.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417320"/>
            <a:ext cx="3703320" cy="3063240"/>
          </a:xfrm>
          <a:prstGeom prst="roundRect">
            <a:avLst>
              <a:gd name="adj" fmla="val 6000"/>
            </a:avLst>
          </a:prstGeom>
          <a:solidFill>
            <a:srgbClr val="ED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600200"/>
            <a:ext cx="3337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2A163A"/>
                </a:solidFill>
                <a:latin typeface="Calibri"/>
              </a:rPr>
              <a:t>Yavaş yol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103120"/>
            <a:ext cx="3337560" cy="2148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>
                <a:solidFill>
                  <a:srgbClr val="20182A"/>
                </a:solidFill>
                <a:latin typeface="Calibri"/>
              </a:rPr>
              <a:t>20 teknik birden denemek, sürekli video izlemek, ‘evren göndersin’ deyip beklemek. Zihin dağılır, istek bulanık kalır.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1417320"/>
            <a:ext cx="3703320" cy="3063240"/>
          </a:xfrm>
          <a:prstGeom prst="roundRect">
            <a:avLst>
              <a:gd name="adj" fmla="val 6000"/>
            </a:avLst>
          </a:prstGeom>
          <a:solidFill>
            <a:srgbClr val="F8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4840" y="1600200"/>
            <a:ext cx="3337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2A163A"/>
                </a:solidFill>
                <a:latin typeface="Calibri"/>
              </a:rPr>
              <a:t>Hızlı yol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2103120"/>
            <a:ext cx="3337560" cy="2148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>
                <a:solidFill>
                  <a:srgbClr val="20182A"/>
                </a:solidFill>
                <a:latin typeface="Calibri"/>
              </a:rPr>
              <a:t>7 gün boyunca tek istek. Aynı cümle. Aynı gece sahnesi. Her gün o isteği 10 dakikalık gerçek bir adımla ilerletmek.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1417320"/>
            <a:ext cx="3703320" cy="3063240"/>
          </a:xfrm>
          <a:prstGeom prst="roundRect">
            <a:avLst>
              <a:gd name="adj" fmla="val 6000"/>
            </a:avLst>
          </a:prstGeom>
          <a:solidFill>
            <a:srgbClr val="FFF4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1600200"/>
            <a:ext cx="3337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2A163A"/>
                </a:solidFill>
                <a:latin typeface="Calibri"/>
              </a:rPr>
              <a:t>Dürüst kural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103120"/>
            <a:ext cx="3337560" cy="2148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>
                <a:solidFill>
                  <a:srgbClr val="20182A"/>
                </a:solidFill>
                <a:latin typeface="Calibri"/>
              </a:rPr>
              <a:t>Manifest bir sihir garantisi değildir. Dikkatini ve davranışını aynı yöne kilitler. Kilitlenen şey daha çabuk görünür hale gelir.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4663440"/>
            <a:ext cx="1143000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800600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C45476"/>
                </a:solidFill>
                <a:latin typeface="Calibri"/>
              </a:rPr>
              <a:t>Bu paketin formülü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5166360"/>
            <a:ext cx="1106424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>
                <a:solidFill>
                  <a:srgbClr val="20182A"/>
                </a:solidFill>
                <a:latin typeface="Calibri"/>
              </a:rPr>
              <a:t>Neville Goddard’ın SATS’ı (uykuya yakın halde ‘oldu’ hissi) + 369 yazma (günde 18 kez aynı cümle) + WOOP (istek, sonuç, engel, eğer-o zaman planı). İlk ikisi zihni hizalar, üçüncüsü sonucu hızlandırır. Araştırmalarda tek başına pozitif hayal, eylemi bazen azaltır; WOOP ise eylemi artırır.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547104"/>
            <a:ext cx="102412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6E6076"/>
                </a:solidFill>
                <a:latin typeface="Calibri"/>
              </a:rPr>
              <a:t>7 günde hızlı manifest  •  tek istek  •  369 + SATS + WOOP  •  her gün 1 somut adım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18520" y="6547104"/>
            <a:ext cx="822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 i="0">
                <a:solidFill>
                  <a:srgbClr val="6E6076"/>
                </a:solidFill>
                <a:latin typeface="Calibri"/>
              </a:rPr>
              <a:t>2/12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15568"/>
          </a:xfrm>
          <a:prstGeom prst="rect">
            <a:avLst/>
          </a:prstGeom>
          <a:solidFill>
            <a:srgbClr val="2A1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695" cy="73152"/>
          </a:xfrm>
          <a:prstGeom prst="rect">
            <a:avLst/>
          </a:prstGeom>
          <a:solidFill>
            <a:srgbClr val="C99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5760" y="146304"/>
            <a:ext cx="2011680" cy="256032"/>
          </a:xfrm>
          <a:prstGeom prst="roundRect">
            <a:avLst>
              <a:gd name="adj" fmla="val 50000"/>
            </a:avLst>
          </a:prstGeom>
          <a:solidFill>
            <a:srgbClr val="C454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64592"/>
            <a:ext cx="20116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Kural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38912"/>
            <a:ext cx="113385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7 gün boyunca sadece bir şey iste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822960"/>
            <a:ext cx="113385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E6D6EC"/>
                </a:solidFill>
                <a:latin typeface="Calibri"/>
              </a:rPr>
              <a:t>Birden fazla dilek = hiçbirinin enerjisi yetmez. Önce bir tanesini bitir.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417320"/>
            <a:ext cx="7040880" cy="4892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6583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2A163A"/>
                </a:solidFill>
                <a:latin typeface="Calibri"/>
              </a:rPr>
              <a:t>Cümle formülü (25 kelimeyi geçme)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011680"/>
            <a:ext cx="658368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>
                <a:solidFill>
                  <a:srgbClr val="20182A"/>
                </a:solidFill>
                <a:latin typeface="Calibri"/>
              </a:rPr>
              <a:t>Şablon:
“Çok minnettarım, [somut sonuç] artık hayatımda ve kendimi [duygu] hissediyorum.”
Şimdi zamanı. “İstiyorum / olacak” yok. Olumsuz yok. Rakam varsa yaz.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3383280"/>
            <a:ext cx="6583680" cy="585216"/>
          </a:xfrm>
          <a:prstGeom prst="roundRect">
            <a:avLst>
              <a:gd name="adj" fmla="val 6000"/>
            </a:avLst>
          </a:prstGeom>
          <a:solidFill>
            <a:srgbClr val="F8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429000"/>
            <a:ext cx="10515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B04048"/>
                </a:solidFill>
                <a:latin typeface="Calibri"/>
              </a:rPr>
              <a:t>Zayıf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429000"/>
            <a:ext cx="51663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0182A"/>
                </a:solidFill>
                <a:latin typeface="Calibri"/>
              </a:rPr>
              <a:t>Bol para istiyorum, stresim bitsin.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4041648"/>
            <a:ext cx="6583680" cy="585216"/>
          </a:xfrm>
          <a:prstGeom prst="roundRect">
            <a:avLst>
              <a:gd name="adj" fmla="val 6000"/>
            </a:avLst>
          </a:prstGeom>
          <a:solidFill>
            <a:srgbClr val="E8F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4087368"/>
            <a:ext cx="10515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2E8060"/>
                </a:solidFill>
                <a:latin typeface="Calibri"/>
              </a:rPr>
              <a:t>Güçlü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087368"/>
            <a:ext cx="51663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0182A"/>
                </a:solidFill>
                <a:latin typeface="Calibri"/>
              </a:rPr>
              <a:t>Çok minnettarım, bu ay faturalarım rahat ödeniyor ve kendimi güvende hissediyorum.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4700016"/>
            <a:ext cx="6583680" cy="585216"/>
          </a:xfrm>
          <a:prstGeom prst="roundRect">
            <a:avLst>
              <a:gd name="adj" fmla="val 6000"/>
            </a:avLst>
          </a:prstGeom>
          <a:solidFill>
            <a:srgbClr val="F8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745736"/>
            <a:ext cx="10515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B04048"/>
                </a:solidFill>
                <a:latin typeface="Calibri"/>
              </a:rPr>
              <a:t>Zayıf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745736"/>
            <a:ext cx="51663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0182A"/>
                </a:solidFill>
                <a:latin typeface="Calibri"/>
              </a:rPr>
              <a:t>O beni özlesin, yazsın.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" y="5358384"/>
            <a:ext cx="6583680" cy="585216"/>
          </a:xfrm>
          <a:prstGeom prst="roundRect">
            <a:avLst>
              <a:gd name="adj" fmla="val 6000"/>
            </a:avLst>
          </a:prstGeom>
          <a:solidFill>
            <a:srgbClr val="E8F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404104"/>
            <a:ext cx="10515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2E8060"/>
                </a:solidFill>
                <a:latin typeface="Calibri"/>
              </a:rPr>
              <a:t>Güçlü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404104"/>
            <a:ext cx="51663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0182A"/>
                </a:solidFill>
                <a:latin typeface="Calibri"/>
              </a:rPr>
              <a:t>Sakin ve seçilmiş hissediyorum; karşılıklı, net bir bağ içindeyim.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589520" y="1417320"/>
            <a:ext cx="4206240" cy="4892040"/>
          </a:xfrm>
          <a:prstGeom prst="roundRect">
            <a:avLst>
              <a:gd name="adj" fmla="val 6000"/>
            </a:avLst>
          </a:prstGeom>
          <a:solidFill>
            <a:srgbClr val="ED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0" y="1600200"/>
            <a:ext cx="3840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2A163A"/>
                </a:solidFill>
                <a:latin typeface="Calibri"/>
              </a:rPr>
              <a:t>Seçim süzgeci</a:t>
            </a:r>
          </a:p>
        </p:txBody>
      </p:sp>
      <p:sp>
        <p:nvSpPr>
          <p:cNvPr id="26" name="Oval 25"/>
          <p:cNvSpPr/>
          <p:nvPr/>
        </p:nvSpPr>
        <p:spPr>
          <a:xfrm>
            <a:off x="7818120" y="2194560"/>
            <a:ext cx="347472" cy="347472"/>
          </a:xfrm>
          <a:prstGeom prst="ellipse">
            <a:avLst/>
          </a:prstGeom>
          <a:solidFill>
            <a:srgbClr val="C454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18120" y="2240280"/>
            <a:ext cx="34747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1040" y="2148840"/>
            <a:ext cx="3246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20182A"/>
                </a:solidFill>
                <a:latin typeface="Calibri"/>
              </a:rPr>
              <a:t>90 gün içinde mümkün mü?</a:t>
            </a:r>
          </a:p>
        </p:txBody>
      </p:sp>
      <p:sp>
        <p:nvSpPr>
          <p:cNvPr id="29" name="Oval 28"/>
          <p:cNvSpPr/>
          <p:nvPr/>
        </p:nvSpPr>
        <p:spPr>
          <a:xfrm>
            <a:off x="7818120" y="2926080"/>
            <a:ext cx="347472" cy="347472"/>
          </a:xfrm>
          <a:prstGeom prst="ellipse">
            <a:avLst/>
          </a:prstGeom>
          <a:solidFill>
            <a:srgbClr val="C454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18120" y="2971800"/>
            <a:ext cx="34747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2880360"/>
            <a:ext cx="3246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20182A"/>
                </a:solidFill>
                <a:latin typeface="Calibri"/>
              </a:rPr>
              <a:t>Olduğunu hayal edince vücutta bir yumuşama var mı?</a:t>
            </a:r>
          </a:p>
        </p:txBody>
      </p:sp>
      <p:sp>
        <p:nvSpPr>
          <p:cNvPr id="32" name="Oval 31"/>
          <p:cNvSpPr/>
          <p:nvPr/>
        </p:nvSpPr>
        <p:spPr>
          <a:xfrm>
            <a:off x="7818120" y="3657600"/>
            <a:ext cx="347472" cy="347472"/>
          </a:xfrm>
          <a:prstGeom prst="ellipse">
            <a:avLst/>
          </a:prstGeom>
          <a:solidFill>
            <a:srgbClr val="C454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18120" y="3703320"/>
            <a:ext cx="34747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1040" y="3611880"/>
            <a:ext cx="3246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20182A"/>
                </a:solidFill>
                <a:latin typeface="Calibri"/>
              </a:rPr>
              <a:t>Senin atabileceğin en az bir adım var mı?</a:t>
            </a:r>
          </a:p>
        </p:txBody>
      </p:sp>
      <p:sp>
        <p:nvSpPr>
          <p:cNvPr id="35" name="Oval 34"/>
          <p:cNvSpPr/>
          <p:nvPr/>
        </p:nvSpPr>
        <p:spPr>
          <a:xfrm>
            <a:off x="7818120" y="4389120"/>
            <a:ext cx="347472" cy="347472"/>
          </a:xfrm>
          <a:prstGeom prst="ellipse">
            <a:avLst/>
          </a:prstGeom>
          <a:solidFill>
            <a:srgbClr val="C454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818120" y="4434840"/>
            <a:ext cx="34747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21040" y="4343400"/>
            <a:ext cx="3246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20182A"/>
                </a:solidFill>
                <a:latin typeface="Calibri"/>
              </a:rPr>
              <a:t>Başkasının iradesini zorlamıyor mu?</a:t>
            </a:r>
          </a:p>
        </p:txBody>
      </p:sp>
      <p:sp>
        <p:nvSpPr>
          <p:cNvPr id="38" name="Oval 37"/>
          <p:cNvSpPr/>
          <p:nvPr/>
        </p:nvSpPr>
        <p:spPr>
          <a:xfrm>
            <a:off x="7818120" y="5120640"/>
            <a:ext cx="347472" cy="347472"/>
          </a:xfrm>
          <a:prstGeom prst="ellipse">
            <a:avLst/>
          </a:prstGeom>
          <a:solidFill>
            <a:srgbClr val="C454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818120" y="5166360"/>
            <a:ext cx="34747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1040" y="5074920"/>
            <a:ext cx="3246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20182A"/>
                </a:solidFill>
                <a:latin typeface="Calibri"/>
              </a:rPr>
              <a:t>Ölçülebilir mi? (tarih, tutar, olay)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5760" y="6547104"/>
            <a:ext cx="102412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6E6076"/>
                </a:solidFill>
                <a:latin typeface="Calibri"/>
              </a:rPr>
              <a:t>7 günde hızlı manifest  •  tek istek  •  369 + SATS + WOOP  •  her gün 1 somut adım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018520" y="6547104"/>
            <a:ext cx="822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 i="0">
                <a:solidFill>
                  <a:srgbClr val="6E6076"/>
                </a:solidFill>
                <a:latin typeface="Calibri"/>
              </a:rPr>
              <a:t>3/12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15568"/>
          </a:xfrm>
          <a:prstGeom prst="rect">
            <a:avLst/>
          </a:prstGeom>
          <a:solidFill>
            <a:srgbClr val="2A1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695" cy="73152"/>
          </a:xfrm>
          <a:prstGeom prst="rect">
            <a:avLst/>
          </a:prstGeom>
          <a:solidFill>
            <a:srgbClr val="C99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5760" y="146304"/>
            <a:ext cx="2011680" cy="256032"/>
          </a:xfrm>
          <a:prstGeom prst="roundRect">
            <a:avLst>
              <a:gd name="adj" fmla="val 50000"/>
            </a:avLst>
          </a:prstGeom>
          <a:solidFill>
            <a:srgbClr val="C454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64592"/>
            <a:ext cx="20116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Sistem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38912"/>
            <a:ext cx="113385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Günde 20–25 dakika, dört katman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822960"/>
            <a:ext cx="113385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E6D6EC"/>
                </a:solidFill>
                <a:latin typeface="Calibri"/>
              </a:rPr>
              <a:t>Aynı sırayı 7 gün bozma. Yeni teknik ekleme.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371600"/>
            <a:ext cx="11430000" cy="10789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48640" y="1691640"/>
            <a:ext cx="1554480" cy="438912"/>
          </a:xfrm>
          <a:prstGeom prst="roundRect">
            <a:avLst>
              <a:gd name="adj" fmla="val 50000"/>
            </a:avLst>
          </a:prstGeom>
          <a:solidFill>
            <a:srgbClr val="C454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755648"/>
            <a:ext cx="1554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Sabah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1536192"/>
            <a:ext cx="11887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 i="0">
                <a:solidFill>
                  <a:srgbClr val="2A163A"/>
                </a:solidFill>
                <a:latin typeface="Calibri"/>
              </a:rPr>
              <a:t>5 dk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1554480"/>
            <a:ext cx="7955279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20182A"/>
                </a:solidFill>
                <a:latin typeface="Calibri"/>
              </a:rPr>
              <a:t>Uyanır uyanmaz 369 cümlenı 3 kez elle yaz. Bitince 10 saniye gözün kapalı, ‘oldu’ hissini al.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2560320"/>
            <a:ext cx="11430000" cy="1078992"/>
          </a:xfrm>
          <a:prstGeom prst="roundRect">
            <a:avLst>
              <a:gd name="adj" fmla="val 6000"/>
            </a:avLst>
          </a:prstGeom>
          <a:solidFill>
            <a:srgbClr val="ED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2880360"/>
            <a:ext cx="1554480" cy="438912"/>
          </a:xfrm>
          <a:prstGeom prst="roundRect">
            <a:avLst>
              <a:gd name="adj" fmla="val 50000"/>
            </a:avLst>
          </a:prstGeom>
          <a:solidFill>
            <a:srgbClr val="C454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944368"/>
            <a:ext cx="1554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Gündüz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724912"/>
            <a:ext cx="11887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 i="0">
                <a:solidFill>
                  <a:srgbClr val="2A163A"/>
                </a:solidFill>
                <a:latin typeface="Calibri"/>
              </a:rPr>
              <a:t>10 dk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2743200"/>
            <a:ext cx="7955279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20182A"/>
                </a:solidFill>
                <a:latin typeface="Calibri"/>
              </a:rPr>
              <a:t>WOOP’taki eğer-o zaman planını çalıştır. Bugünün tek somut adımını bitirmeden telefonu açma.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3749039"/>
            <a:ext cx="11430000" cy="10789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48640" y="4069079"/>
            <a:ext cx="1554480" cy="438912"/>
          </a:xfrm>
          <a:prstGeom prst="roundRect">
            <a:avLst>
              <a:gd name="adj" fmla="val 50000"/>
            </a:avLst>
          </a:prstGeom>
          <a:solidFill>
            <a:srgbClr val="C454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4133087"/>
            <a:ext cx="1554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İkindi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0" y="3913631"/>
            <a:ext cx="11887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 i="0">
                <a:solidFill>
                  <a:srgbClr val="2A163A"/>
                </a:solidFill>
                <a:latin typeface="Calibri"/>
              </a:rPr>
              <a:t>5 dk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0" y="3931920"/>
            <a:ext cx="7955279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20182A"/>
                </a:solidFill>
                <a:latin typeface="Calibri"/>
              </a:rPr>
              <a:t>Aynı cümleyi 6 kez yaz. Şüphe gelirse cümleyi tartışma; yaz ve kapat.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" y="4937760"/>
            <a:ext cx="11430000" cy="1078992"/>
          </a:xfrm>
          <a:prstGeom prst="roundRect">
            <a:avLst>
              <a:gd name="adj" fmla="val 6000"/>
            </a:avLst>
          </a:prstGeom>
          <a:solidFill>
            <a:srgbClr val="ED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48640" y="5257800"/>
            <a:ext cx="1554480" cy="438912"/>
          </a:xfrm>
          <a:prstGeom prst="roundRect">
            <a:avLst>
              <a:gd name="adj" fmla="val 50000"/>
            </a:avLst>
          </a:prstGeom>
          <a:solidFill>
            <a:srgbClr val="C99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5321808"/>
            <a:ext cx="1554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>
                <a:solidFill>
                  <a:srgbClr val="2A163A"/>
                </a:solidFill>
                <a:latin typeface="Calibri"/>
              </a:rPr>
              <a:t>Gece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86000" y="5102352"/>
            <a:ext cx="11887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 i="0">
                <a:solidFill>
                  <a:srgbClr val="2A163A"/>
                </a:solidFill>
                <a:latin typeface="Calibri"/>
              </a:rPr>
              <a:t>8 dk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0" y="5120640"/>
            <a:ext cx="7955279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20182A"/>
                </a:solidFill>
                <a:latin typeface="Calibri"/>
              </a:rPr>
              <a:t>Cümleyi 9 kez yaz. Yatağa gir. SATS sahnesini 5–10 saniyelik döngüde uykuya kadar tekrarla.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6547104"/>
            <a:ext cx="102412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6E6076"/>
                </a:solidFill>
                <a:latin typeface="Calibri"/>
              </a:rPr>
              <a:t>7 günde hızlı manifest  •  tek istek  •  369 + SATS + WOOP  •  her gün 1 somut adım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18520" y="6547104"/>
            <a:ext cx="822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 i="0">
                <a:solidFill>
                  <a:srgbClr val="6E6076"/>
                </a:solidFill>
                <a:latin typeface="Calibri"/>
              </a:rPr>
              <a:t>4/12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15568"/>
          </a:xfrm>
          <a:prstGeom prst="rect">
            <a:avLst/>
          </a:prstGeom>
          <a:solidFill>
            <a:srgbClr val="2A1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695" cy="73152"/>
          </a:xfrm>
          <a:prstGeom prst="rect">
            <a:avLst/>
          </a:prstGeom>
          <a:solidFill>
            <a:srgbClr val="C99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5760" y="146304"/>
            <a:ext cx="2011680" cy="256032"/>
          </a:xfrm>
          <a:prstGeom prst="roundRect">
            <a:avLst>
              <a:gd name="adj" fmla="val 50000"/>
            </a:avLst>
          </a:prstGeom>
          <a:solidFill>
            <a:srgbClr val="C454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64592"/>
            <a:ext cx="20116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Teknik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38912"/>
            <a:ext cx="113385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369: aynı cümleyi 3 + 6 + 9 yaz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822960"/>
            <a:ext cx="113385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E6D6EC"/>
                </a:solidFill>
                <a:latin typeface="Calibri"/>
              </a:rPr>
              <a:t>Tesla’ya ait sihirli bir formül değil. Dikkat kilidi. Elle yazmak ekrandan daha iyi işler.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417320"/>
            <a:ext cx="3703320" cy="4892040"/>
          </a:xfrm>
          <a:prstGeom prst="roundRect">
            <a:avLst>
              <a:gd name="adj" fmla="val 6000"/>
            </a:avLst>
          </a:prstGeom>
          <a:solidFill>
            <a:srgbClr val="C454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600200"/>
            <a:ext cx="3337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Sabah ×3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057400"/>
            <a:ext cx="3337560" cy="3931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Yataktan kalkınca, telefonu eline almadan.
Amaç: günün ilk izi ‘oldu’ olsun.
Yazarken acele etme. Her satırda nefes al, minnettarlığı bir saniye hisset.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1417320"/>
            <a:ext cx="3703320" cy="4892040"/>
          </a:xfrm>
          <a:prstGeom prst="roundRect">
            <a:avLst>
              <a:gd name="adj" fmla="val 6000"/>
            </a:avLst>
          </a:prstGeom>
          <a:solidFill>
            <a:srgbClr val="2A1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4840" y="1600200"/>
            <a:ext cx="3337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C99A4A"/>
                </a:solidFill>
                <a:latin typeface="Calibri"/>
              </a:rPr>
              <a:t>Öğlen ×6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2057400"/>
            <a:ext cx="3337560" cy="3931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Günün ortasında zihin dağılır. 6 tekrar onu geri çağırır.
Şüphe gelirse yandaki sayfaya 1 cümle yaz: “Nasıl olacağını bilmiyorum, yine de oldu.” Sonra 369’a dön.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1417320"/>
            <a:ext cx="3657600" cy="4892040"/>
          </a:xfrm>
          <a:prstGeom prst="roundRect">
            <a:avLst>
              <a:gd name="adj" fmla="val 6000"/>
            </a:avLst>
          </a:prstGeom>
          <a:solidFill>
            <a:srgbClr val="C99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1600200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2A163A"/>
                </a:solidFill>
                <a:latin typeface="Calibri"/>
              </a:rPr>
              <a:t>Gece ×9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057400"/>
            <a:ext cx="3291840" cy="3931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>
                <a:solidFill>
                  <a:srgbClr val="2A163A"/>
                </a:solidFill>
                <a:latin typeface="Calibri"/>
              </a:rPr>
              <a:t>Uyumadan 30 dakika içinde bitir.
9. satırdan sonra defteri kapat. Kanıt ara, mesaj kontrol etme, ‘çalıştı mı’ diye evrene bakma. Hemen SATS’a geç.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547104"/>
            <a:ext cx="102412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6E6076"/>
                </a:solidFill>
                <a:latin typeface="Calibri"/>
              </a:rPr>
              <a:t>7 günde hızlı manifest  •  tek istek  •  369 + SATS + WOOP  •  her gün 1 somut adım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18520" y="6547104"/>
            <a:ext cx="822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 i="0">
                <a:solidFill>
                  <a:srgbClr val="6E6076"/>
                </a:solidFill>
                <a:latin typeface="Calibri"/>
              </a:rPr>
              <a:t>5/12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15568"/>
          </a:xfrm>
          <a:prstGeom prst="rect">
            <a:avLst/>
          </a:prstGeom>
          <a:solidFill>
            <a:srgbClr val="2A1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695" cy="73152"/>
          </a:xfrm>
          <a:prstGeom prst="rect">
            <a:avLst/>
          </a:prstGeom>
          <a:solidFill>
            <a:srgbClr val="C99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5760" y="146304"/>
            <a:ext cx="2011680" cy="256032"/>
          </a:xfrm>
          <a:prstGeom prst="roundRect">
            <a:avLst>
              <a:gd name="adj" fmla="val 50000"/>
            </a:avLst>
          </a:prstGeom>
          <a:solidFill>
            <a:srgbClr val="C454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64592"/>
            <a:ext cx="20116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Teknik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38912"/>
            <a:ext cx="113385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Scripting: olmuş bir günü mektup gibi yaz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822960"/>
            <a:ext cx="113385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E6D6EC"/>
                </a:solidFill>
                <a:latin typeface="Calibri"/>
              </a:rPr>
              <a:t>Haftada 2 kez, 8 dakika. 369’un uzun hali. Film değil, sıradan bir salı sabahı yaz.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417320"/>
            <a:ext cx="7589520" cy="4892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4360" y="1600200"/>
            <a:ext cx="384048" cy="384048"/>
          </a:xfrm>
          <a:prstGeom prst="ellipse">
            <a:avLst/>
          </a:prstGeom>
          <a:solidFill>
            <a:srgbClr val="C454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655064"/>
            <a:ext cx="38404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1600200"/>
            <a:ext cx="65836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 i="0">
                <a:solidFill>
                  <a:srgbClr val="20182A"/>
                </a:solidFill>
                <a:latin typeface="Calibri"/>
              </a:rPr>
              <a:t>Tarih at: “21 Eylül. Bugün …”</a:t>
            </a:r>
          </a:p>
        </p:txBody>
      </p:sp>
      <p:sp>
        <p:nvSpPr>
          <p:cNvPr id="13" name="Oval 12"/>
          <p:cNvSpPr/>
          <p:nvPr/>
        </p:nvSpPr>
        <p:spPr>
          <a:xfrm>
            <a:off x="594360" y="2331720"/>
            <a:ext cx="384048" cy="384048"/>
          </a:xfrm>
          <a:prstGeom prst="ellipse">
            <a:avLst/>
          </a:prstGeom>
          <a:solidFill>
            <a:srgbClr val="C454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386584"/>
            <a:ext cx="38404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2331720"/>
            <a:ext cx="65836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 i="0">
                <a:solidFill>
                  <a:srgbClr val="20182A"/>
                </a:solidFill>
                <a:latin typeface="Calibri"/>
              </a:rPr>
              <a:t>Şimdiki veya geçmiş zaman: “uyandım / oturuyorum / attım”.</a:t>
            </a:r>
          </a:p>
        </p:txBody>
      </p:sp>
      <p:sp>
        <p:nvSpPr>
          <p:cNvPr id="16" name="Oval 15"/>
          <p:cNvSpPr/>
          <p:nvPr/>
        </p:nvSpPr>
        <p:spPr>
          <a:xfrm>
            <a:off x="594360" y="3063240"/>
            <a:ext cx="384048" cy="384048"/>
          </a:xfrm>
          <a:prstGeom prst="ellipse">
            <a:avLst/>
          </a:prstGeom>
          <a:solidFill>
            <a:srgbClr val="C454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118104"/>
            <a:ext cx="38404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63240"/>
            <a:ext cx="65836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 i="0">
                <a:solidFill>
                  <a:srgbClr val="20182A"/>
                </a:solidFill>
                <a:latin typeface="Calibri"/>
              </a:rPr>
              <a:t>5 duyu: ne gördün, ne duydun, vücutta ne vardı?</a:t>
            </a:r>
          </a:p>
        </p:txBody>
      </p:sp>
      <p:sp>
        <p:nvSpPr>
          <p:cNvPr id="19" name="Oval 18"/>
          <p:cNvSpPr/>
          <p:nvPr/>
        </p:nvSpPr>
        <p:spPr>
          <a:xfrm>
            <a:off x="594360" y="3794760"/>
            <a:ext cx="384048" cy="384048"/>
          </a:xfrm>
          <a:prstGeom prst="ellipse">
            <a:avLst/>
          </a:prstGeom>
          <a:solidFill>
            <a:srgbClr val="C454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3849624"/>
            <a:ext cx="38404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3794760"/>
            <a:ext cx="65836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 i="0">
                <a:solidFill>
                  <a:srgbClr val="20182A"/>
                </a:solidFill>
                <a:latin typeface="Calibri"/>
              </a:rPr>
              <a:t>Küçük ayrıntı: kupa, ışık, bir cümle, bir imza.</a:t>
            </a:r>
          </a:p>
        </p:txBody>
      </p:sp>
      <p:sp>
        <p:nvSpPr>
          <p:cNvPr id="22" name="Oval 21"/>
          <p:cNvSpPr/>
          <p:nvPr/>
        </p:nvSpPr>
        <p:spPr>
          <a:xfrm>
            <a:off x="594360" y="4526280"/>
            <a:ext cx="384048" cy="384048"/>
          </a:xfrm>
          <a:prstGeom prst="ellipse">
            <a:avLst/>
          </a:prstGeom>
          <a:solidFill>
            <a:srgbClr val="C454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581144"/>
            <a:ext cx="38404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4526280"/>
            <a:ext cx="65836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 i="0">
                <a:solidFill>
                  <a:srgbClr val="20182A"/>
                </a:solidFill>
                <a:latin typeface="Calibri"/>
              </a:rPr>
              <a:t>Duygu: rahatlama, sıradanlık, ‘tabii ki böyle’.</a:t>
            </a:r>
          </a:p>
        </p:txBody>
      </p:sp>
      <p:sp>
        <p:nvSpPr>
          <p:cNvPr id="25" name="Oval 24"/>
          <p:cNvSpPr/>
          <p:nvPr/>
        </p:nvSpPr>
        <p:spPr>
          <a:xfrm>
            <a:off x="594360" y="5257800"/>
            <a:ext cx="384048" cy="384048"/>
          </a:xfrm>
          <a:prstGeom prst="ellipse">
            <a:avLst/>
          </a:prstGeom>
          <a:solidFill>
            <a:srgbClr val="C454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5312664"/>
            <a:ext cx="38404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" y="5257800"/>
            <a:ext cx="65836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 i="0">
                <a:solidFill>
                  <a:srgbClr val="20182A"/>
                </a:solidFill>
                <a:latin typeface="Calibri"/>
              </a:rPr>
              <a:t>Bir teşekkür cümlesi ile bitir. Defteri kapat. Okuyup düzeltme.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38160" y="1417320"/>
            <a:ext cx="3657600" cy="4892040"/>
          </a:xfrm>
          <a:prstGeom prst="roundRect">
            <a:avLst>
              <a:gd name="adj" fmla="val 6000"/>
            </a:avLst>
          </a:prstGeom>
          <a:solidFill>
            <a:srgbClr val="FFF4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0" y="1600200"/>
            <a:ext cx="32918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2A163A"/>
                </a:solidFill>
                <a:latin typeface="Calibri"/>
              </a:rPr>
              <a:t>Mini örnek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2103120"/>
            <a:ext cx="329184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>
                <a:solidFill>
                  <a:srgbClr val="20182A"/>
                </a:solidFill>
                <a:latin typeface="Calibri"/>
              </a:rPr>
              <a:t>“Salı sabahı masamda kahvemi içiyorum. Mail kutusunda onay var. Omuzlarım düşük, nefesim rahat. Anneme ‘oldu’ diye yazıyorum. Teşekkür ederim, bu artık normalim.”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547104"/>
            <a:ext cx="102412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6E6076"/>
                </a:solidFill>
                <a:latin typeface="Calibri"/>
              </a:rPr>
              <a:t>7 günde hızlı manifest  •  tek istek  •  369 + SATS + WOOP  •  her gün 1 somut adım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18520" y="6547104"/>
            <a:ext cx="822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 i="0">
                <a:solidFill>
                  <a:srgbClr val="6E6076"/>
                </a:solidFill>
                <a:latin typeface="Calibri"/>
              </a:rPr>
              <a:t>6/12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15568"/>
          </a:xfrm>
          <a:prstGeom prst="rect">
            <a:avLst/>
          </a:prstGeom>
          <a:solidFill>
            <a:srgbClr val="2A1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695" cy="73152"/>
          </a:xfrm>
          <a:prstGeom prst="rect">
            <a:avLst/>
          </a:prstGeom>
          <a:solidFill>
            <a:srgbClr val="C99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5760" y="146304"/>
            <a:ext cx="2011680" cy="256032"/>
          </a:xfrm>
          <a:prstGeom prst="roundRect">
            <a:avLst>
              <a:gd name="adj" fmla="val 50000"/>
            </a:avLst>
          </a:prstGeom>
          <a:solidFill>
            <a:srgbClr val="C454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64592"/>
            <a:ext cx="20116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Teknik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38912"/>
            <a:ext cx="113385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SATS: uykunun eşiğinde 5 saniyelik sahne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822960"/>
            <a:ext cx="113385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E6D6EC"/>
                </a:solidFill>
                <a:latin typeface="Calibri"/>
              </a:rPr>
              <a:t>Neville Goddard. Feeling is the Secret. Sahne, dileğin gerçekleşmesinden SONRA olmalıdır.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371600"/>
            <a:ext cx="562356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4360" y="1645920"/>
            <a:ext cx="502920" cy="502920"/>
          </a:xfrm>
          <a:prstGeom prst="ellipse">
            <a:avLst/>
          </a:prstGeom>
          <a:solidFill>
            <a:srgbClr val="C99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737360"/>
            <a:ext cx="502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 i="0">
                <a:solidFill>
                  <a:srgbClr val="2A163A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645920"/>
            <a:ext cx="4434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2A163A"/>
                </a:solidFill>
                <a:latin typeface="Calibri"/>
              </a:rPr>
              <a:t>Sahneyi gündüz kur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286000"/>
            <a:ext cx="50749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20182A"/>
                </a:solidFill>
                <a:latin typeface="Calibri"/>
              </a:rPr>
              <a:t>El sıkışma, anahtar çevirme, ‘tebrikler’ cümlesi, hesap bakiyesini görme. 5–10 saniye. Birinci tekil şahıs.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371600"/>
            <a:ext cx="562356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46520" y="1645920"/>
            <a:ext cx="502920" cy="502920"/>
          </a:xfrm>
          <a:prstGeom prst="ellipse">
            <a:avLst/>
          </a:prstGeom>
          <a:solidFill>
            <a:srgbClr val="C99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1737360"/>
            <a:ext cx="502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 i="0">
                <a:solidFill>
                  <a:srgbClr val="2A163A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1645920"/>
            <a:ext cx="4434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2A163A"/>
                </a:solidFill>
                <a:latin typeface="Calibri"/>
              </a:rPr>
              <a:t>Bedeni bırak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286000"/>
            <a:ext cx="50749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20182A"/>
                </a:solidFill>
                <a:latin typeface="Calibri"/>
              </a:rPr>
              <a:t>Yat. Telefon dışarı. Ayak ucundan çeneye kadar her bölgeyi ağırlaştır. Uykulu ol, uyanık analiz etme.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3703320"/>
            <a:ext cx="562356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94360" y="3977639"/>
            <a:ext cx="502920" cy="502920"/>
          </a:xfrm>
          <a:prstGeom prst="ellipse">
            <a:avLst/>
          </a:prstGeom>
          <a:solidFill>
            <a:srgbClr val="C99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4069080"/>
            <a:ext cx="502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 i="0">
                <a:solidFill>
                  <a:srgbClr val="2A163A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3977639"/>
            <a:ext cx="4434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2A163A"/>
                </a:solidFill>
                <a:latin typeface="Calibri"/>
              </a:rPr>
              <a:t>İçeriden yaşa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617720"/>
            <a:ext cx="50749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20182A"/>
                </a:solidFill>
                <a:latin typeface="Calibri"/>
              </a:rPr>
              <a:t>Kendini dışarıdan izleme. Elin, ses, oda sıcaklığı, yüzündeki ifade. GIF gibi döngüle.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3703320"/>
            <a:ext cx="562356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46520" y="3977639"/>
            <a:ext cx="502920" cy="502920"/>
          </a:xfrm>
          <a:prstGeom prst="ellipse">
            <a:avLst/>
          </a:prstGeom>
          <a:solidFill>
            <a:srgbClr val="C99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20" y="4069080"/>
            <a:ext cx="502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 i="0">
                <a:solidFill>
                  <a:srgbClr val="2A163A"/>
                </a:solidFill>
                <a:latin typeface="Calibr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0" y="3977639"/>
            <a:ext cx="4434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2A163A"/>
                </a:solidFill>
                <a:latin typeface="Calibri"/>
              </a:rPr>
              <a:t>Hisle uyu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4617720"/>
            <a:ext cx="50749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20182A"/>
                </a:solidFill>
                <a:latin typeface="Calibri"/>
              </a:rPr>
              <a:t>Heyecan değil, doğallık. ‘Tabii ki benim’ hissi. Uyuyakalmak başarıdır. Sabah sahneyi zorlama.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6547104"/>
            <a:ext cx="102412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6E6076"/>
                </a:solidFill>
                <a:latin typeface="Calibri"/>
              </a:rPr>
              <a:t>7 günde hızlı manifest  •  tek istek  •  369 + SATS + WOOP  •  her gün 1 somut adım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18520" y="6547104"/>
            <a:ext cx="822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 i="0">
                <a:solidFill>
                  <a:srgbClr val="6E6076"/>
                </a:solidFill>
                <a:latin typeface="Calibri"/>
              </a:rPr>
              <a:t>7/12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15568"/>
          </a:xfrm>
          <a:prstGeom prst="rect">
            <a:avLst/>
          </a:prstGeom>
          <a:solidFill>
            <a:srgbClr val="2A1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695" cy="73152"/>
          </a:xfrm>
          <a:prstGeom prst="rect">
            <a:avLst/>
          </a:prstGeom>
          <a:solidFill>
            <a:srgbClr val="C99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5760" y="146304"/>
            <a:ext cx="2011680" cy="256032"/>
          </a:xfrm>
          <a:prstGeom prst="roundRect">
            <a:avLst>
              <a:gd name="adj" fmla="val 50000"/>
            </a:avLst>
          </a:prstGeom>
          <a:solidFill>
            <a:srgbClr val="C454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64592"/>
            <a:ext cx="20116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Teknik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38912"/>
            <a:ext cx="113385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WOOP: hayali eyleme çeviren bilimsel katman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822960"/>
            <a:ext cx="113385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E6D6EC"/>
                </a:solidFill>
                <a:latin typeface="Calibri"/>
              </a:rPr>
              <a:t>Gabriele Oettingen. woopmylife.org  •  Sadece olumlu fantezi, çabayı düşürebilir.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417320"/>
            <a:ext cx="2788920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325880" y="1600200"/>
            <a:ext cx="822960" cy="822960"/>
          </a:xfrm>
          <a:prstGeom prst="ellipse">
            <a:avLst/>
          </a:prstGeom>
          <a:solidFill>
            <a:srgbClr val="C454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25880" y="1783080"/>
            <a:ext cx="8229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560320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>
                <a:solidFill>
                  <a:srgbClr val="2A163A"/>
                </a:solidFill>
                <a:latin typeface="Calibri"/>
              </a:rPr>
              <a:t>Wish · İstek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017520"/>
            <a:ext cx="242316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20182A"/>
                </a:solidFill>
                <a:latin typeface="Calibri"/>
              </a:rPr>
              <a:t>Tek, net, senin için zor ama mümkün dilek. 3-6-9 cümlenle aynı olsun.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91840" y="1417320"/>
            <a:ext cx="2788920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251960" y="1600200"/>
            <a:ext cx="822960" cy="822960"/>
          </a:xfrm>
          <a:prstGeom prst="ellipse">
            <a:avLst/>
          </a:prstGeom>
          <a:solidFill>
            <a:srgbClr val="C99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51960" y="1783080"/>
            <a:ext cx="8229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9000" y="2560320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>
                <a:solidFill>
                  <a:srgbClr val="2A163A"/>
                </a:solidFill>
                <a:latin typeface="Calibri"/>
              </a:rPr>
              <a:t>Outcome · Sonuç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3017520"/>
            <a:ext cx="242316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20182A"/>
                </a:solidFill>
                <a:latin typeface="Calibri"/>
              </a:rPr>
              <a:t>Olduğunda en güzel an. 30 saniye gözün kapalı yaşa. Göğüste ne açılıyor?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1417320"/>
            <a:ext cx="2788920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178040" y="1600200"/>
            <a:ext cx="822960" cy="822960"/>
          </a:xfrm>
          <a:prstGeom prst="ellipse">
            <a:avLst/>
          </a:prstGeom>
          <a:solidFill>
            <a:srgbClr val="C454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78040" y="1783080"/>
            <a:ext cx="8229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2560320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>
                <a:solidFill>
                  <a:srgbClr val="2A163A"/>
                </a:solidFill>
                <a:latin typeface="Calibri"/>
              </a:rPr>
              <a:t>Obstacle · Engel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017520"/>
            <a:ext cx="242316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20182A"/>
                </a:solidFill>
                <a:latin typeface="Calibri"/>
              </a:rPr>
              <a:t>Dış dünya değil, içindeki asıl fren: erteleme, utanç, ‘hak etmiyorum’, gece telefon.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0" y="1417320"/>
            <a:ext cx="2788920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104120" y="1600200"/>
            <a:ext cx="822960" cy="822960"/>
          </a:xfrm>
          <a:prstGeom prst="ellipse">
            <a:avLst/>
          </a:prstGeom>
          <a:solidFill>
            <a:srgbClr val="C99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104120" y="1783080"/>
            <a:ext cx="8229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81160" y="2560320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>
                <a:solidFill>
                  <a:srgbClr val="2A163A"/>
                </a:solidFill>
                <a:latin typeface="Calibri"/>
              </a:rPr>
              <a:t>Plan · Plan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26880" y="3017520"/>
            <a:ext cx="242316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20182A"/>
                </a:solidFill>
                <a:latin typeface="Calibri"/>
              </a:rPr>
              <a:t>Eğer [engel belirirse], o zaman [2 dakikalık davranış]. Önceden yaz, karar anında düşünme.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65760" y="5212080"/>
            <a:ext cx="11430000" cy="1143000"/>
          </a:xfrm>
          <a:prstGeom prst="roundRect">
            <a:avLst>
              <a:gd name="adj" fmla="val 6000"/>
            </a:avLst>
          </a:prstGeom>
          <a:solidFill>
            <a:srgbClr val="E8F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5349240"/>
            <a:ext cx="11064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E8060"/>
                </a:solidFill>
                <a:latin typeface="Calibri"/>
              </a:rPr>
              <a:t>Hazır plan örneği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669280"/>
            <a:ext cx="110642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>
                <a:solidFill>
                  <a:srgbClr val="20182A"/>
                </a:solidFill>
                <a:latin typeface="Calibri"/>
              </a:rPr>
              <a:t>Eğer öğleden sonra ‘nasıl olsa olmaz’ diye kaydırırsam, o zaman telefonu başka odaya koyar, 2 dakikalık adımı (mail / arama / dosya / fiyat) hemen bitiririm.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547104"/>
            <a:ext cx="102412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6E6076"/>
                </a:solidFill>
                <a:latin typeface="Calibri"/>
              </a:rPr>
              <a:t>7 günde hızlı manifest  •  tek istek  •  369 + SATS + WOOP  •  her gün 1 somut adım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018520" y="6547104"/>
            <a:ext cx="822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 i="0">
                <a:solidFill>
                  <a:srgbClr val="6E6076"/>
                </a:solidFill>
                <a:latin typeface="Calibri"/>
              </a:rPr>
              <a:t>8/12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15568"/>
          </a:xfrm>
          <a:prstGeom prst="rect">
            <a:avLst/>
          </a:prstGeom>
          <a:solidFill>
            <a:srgbClr val="2A1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695" cy="73152"/>
          </a:xfrm>
          <a:prstGeom prst="rect">
            <a:avLst/>
          </a:prstGeom>
          <a:solidFill>
            <a:srgbClr val="C99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5760" y="146304"/>
            <a:ext cx="2011680" cy="256032"/>
          </a:xfrm>
          <a:prstGeom prst="roundRect">
            <a:avLst>
              <a:gd name="adj" fmla="val 50000"/>
            </a:avLst>
          </a:prstGeom>
          <a:solidFill>
            <a:srgbClr val="C454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64592"/>
            <a:ext cx="20116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Takvim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38912"/>
            <a:ext cx="113385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7 günlük hız protokolü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822960"/>
            <a:ext cx="113385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E6D6EC"/>
                </a:solidFill>
                <a:latin typeface="Calibri"/>
              </a:rPr>
              <a:t>Her gün: 369 + SATS + 1 adım. Tema değişir, sistem değişmez.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371600"/>
            <a:ext cx="1600200" cy="4937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2960" y="1554480"/>
            <a:ext cx="594360" cy="594360"/>
          </a:xfrm>
          <a:prstGeom prst="ellipse">
            <a:avLst/>
          </a:prstGeom>
          <a:solidFill>
            <a:srgbClr val="C454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664208"/>
            <a:ext cx="594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2286000"/>
            <a:ext cx="1417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>
                <a:solidFill>
                  <a:srgbClr val="2A163A"/>
                </a:solidFill>
                <a:latin typeface="Calibri"/>
              </a:rPr>
              <a:t>Netleş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2971800"/>
            <a:ext cx="1417320" cy="3063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20182A"/>
                </a:solidFill>
                <a:latin typeface="Calibri"/>
              </a:rPr>
              <a:t>Tek istek, 369 cümlesi, SATS sahnesi, WOOP. İlk somut adım bugün atılır.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011680" y="1371600"/>
            <a:ext cx="1600200" cy="4937760"/>
          </a:xfrm>
          <a:prstGeom prst="roundRect">
            <a:avLst>
              <a:gd name="adj" fmla="val 6000"/>
            </a:avLst>
          </a:prstGeom>
          <a:solidFill>
            <a:srgbClr val="ED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514600" y="1554480"/>
            <a:ext cx="594360" cy="594360"/>
          </a:xfrm>
          <a:prstGeom prst="ellipse">
            <a:avLst/>
          </a:prstGeom>
          <a:solidFill>
            <a:srgbClr val="C454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14600" y="1664208"/>
            <a:ext cx="594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20" y="2286000"/>
            <a:ext cx="1417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>
                <a:solidFill>
                  <a:srgbClr val="2A163A"/>
                </a:solidFill>
                <a:latin typeface="Calibri"/>
              </a:rPr>
              <a:t>Ritim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20" y="2971800"/>
            <a:ext cx="1417320" cy="3063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20182A"/>
                </a:solidFill>
                <a:latin typeface="Calibri"/>
              </a:rPr>
              <a:t>Aynı cümle. En küçük görünür hareket: bir mesaj, bir dosya, bir fiyat, bir yürüyüş.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03320" y="1371600"/>
            <a:ext cx="1600200" cy="4937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206240" y="1554480"/>
            <a:ext cx="594360" cy="594360"/>
          </a:xfrm>
          <a:prstGeom prst="ellipse">
            <a:avLst/>
          </a:prstGeom>
          <a:solidFill>
            <a:srgbClr val="C454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06240" y="1664208"/>
            <a:ext cx="594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94759" y="2286000"/>
            <a:ext cx="1417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>
                <a:solidFill>
                  <a:srgbClr val="2A163A"/>
                </a:solidFill>
                <a:latin typeface="Calibri"/>
              </a:rPr>
              <a:t>Hikâye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94759" y="2971800"/>
            <a:ext cx="1417320" cy="3063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20182A"/>
                </a:solidFill>
                <a:latin typeface="Calibri"/>
              </a:rPr>
              <a:t>8 dakikalık scripting. Bir insanla konuş veya bir kapı çal.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394960" y="1371600"/>
            <a:ext cx="1600200" cy="4937760"/>
          </a:xfrm>
          <a:prstGeom prst="roundRect">
            <a:avLst>
              <a:gd name="adj" fmla="val 6000"/>
            </a:avLst>
          </a:prstGeom>
          <a:solidFill>
            <a:srgbClr val="ED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897880" y="1554480"/>
            <a:ext cx="594360" cy="594360"/>
          </a:xfrm>
          <a:prstGeom prst="ellipse">
            <a:avLst/>
          </a:prstGeom>
          <a:solidFill>
            <a:srgbClr val="C454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97880" y="1664208"/>
            <a:ext cx="594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0" y="2286000"/>
            <a:ext cx="1417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>
                <a:solidFill>
                  <a:srgbClr val="2A163A"/>
                </a:solidFill>
                <a:latin typeface="Calibri"/>
              </a:rPr>
              <a:t>Engel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0" y="2971800"/>
            <a:ext cx="1417320" cy="3063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20182A"/>
                </a:solidFill>
                <a:latin typeface="Calibri"/>
              </a:rPr>
              <a:t>WOOP’u yeniden yaz. Asıl iç freni adlandır. Eğer-o zaman planını sıkılaştır.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086600" y="1371600"/>
            <a:ext cx="1600200" cy="4937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589520" y="1554480"/>
            <a:ext cx="594360" cy="594360"/>
          </a:xfrm>
          <a:prstGeom prst="ellipse">
            <a:avLst/>
          </a:prstGeom>
          <a:solidFill>
            <a:srgbClr val="C454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589520" y="1664208"/>
            <a:ext cx="594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78040" y="2286000"/>
            <a:ext cx="1417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>
                <a:solidFill>
                  <a:srgbClr val="2A163A"/>
                </a:solidFill>
                <a:latin typeface="Calibri"/>
              </a:rPr>
              <a:t>Kimlik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78040" y="2971800"/>
            <a:ext cx="1417320" cy="3063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20182A"/>
                </a:solidFill>
                <a:latin typeface="Calibri"/>
              </a:rPr>
              <a:t>Günü ‘bunu zaten yaşayan kişi’ olarak geçir. Kıyafet, masa, konuşma tonu uyumlu olsun.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778240" y="1371600"/>
            <a:ext cx="1600200" cy="4937760"/>
          </a:xfrm>
          <a:prstGeom prst="roundRect">
            <a:avLst>
              <a:gd name="adj" fmla="val 6000"/>
            </a:avLst>
          </a:prstGeom>
          <a:solidFill>
            <a:srgbClr val="ED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281160" y="1554480"/>
            <a:ext cx="594360" cy="594360"/>
          </a:xfrm>
          <a:prstGeom prst="ellipse">
            <a:avLst/>
          </a:prstGeom>
          <a:solidFill>
            <a:srgbClr val="C454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281160" y="1664208"/>
            <a:ext cx="594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69680" y="2286000"/>
            <a:ext cx="1417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>
                <a:solidFill>
                  <a:srgbClr val="2A163A"/>
                </a:solidFill>
                <a:latin typeface="Calibri"/>
              </a:rPr>
              <a:t>Kanıt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69680" y="2971800"/>
            <a:ext cx="1417320" cy="3063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20182A"/>
                </a:solidFill>
                <a:latin typeface="Calibri"/>
              </a:rPr>
              <a:t>3 küçük işaret not et (zorlama). Bir büyükçe adım: başvuru, teklif, ödeme, bitirme.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469880" y="1371600"/>
            <a:ext cx="1600200" cy="4937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0972800" y="1554480"/>
            <a:ext cx="594360" cy="594360"/>
          </a:xfrm>
          <a:prstGeom prst="ellipse">
            <a:avLst/>
          </a:prstGeom>
          <a:solidFill>
            <a:srgbClr val="C454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972800" y="1664208"/>
            <a:ext cx="594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561320" y="2286000"/>
            <a:ext cx="1417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>
                <a:solidFill>
                  <a:srgbClr val="2A163A"/>
                </a:solidFill>
                <a:latin typeface="Calibri"/>
              </a:rPr>
              <a:t>Mühürle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61320" y="2971800"/>
            <a:ext cx="1417320" cy="3063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20182A"/>
                </a:solidFill>
                <a:latin typeface="Calibri"/>
              </a:rPr>
              <a:t>7 günü oku. Cümleyi gerekirse %10 netleştir. Önündeki 21 güne kilit at. Kontrolü bırak.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6547104"/>
            <a:ext cx="102412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6E6076"/>
                </a:solidFill>
                <a:latin typeface="Calibri"/>
              </a:rPr>
              <a:t>7 günde hızlı manifest  •  tek istek  •  369 + SATS + WOOP  •  her gün 1 somut adım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018520" y="6547104"/>
            <a:ext cx="822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 i="0">
                <a:solidFill>
                  <a:srgbClr val="6E6076"/>
                </a:solidFill>
                <a:latin typeface="Calibri"/>
              </a:rPr>
              <a:t>9/12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15568"/>
          </a:xfrm>
          <a:prstGeom prst="rect">
            <a:avLst/>
          </a:prstGeom>
          <a:solidFill>
            <a:srgbClr val="2A1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695" cy="73152"/>
          </a:xfrm>
          <a:prstGeom prst="rect">
            <a:avLst/>
          </a:prstGeom>
          <a:solidFill>
            <a:srgbClr val="C99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5760" y="146304"/>
            <a:ext cx="2011680" cy="256032"/>
          </a:xfrm>
          <a:prstGeom prst="roundRect">
            <a:avLst>
              <a:gd name="adj" fmla="val 50000"/>
            </a:avLst>
          </a:prstGeom>
          <a:solidFill>
            <a:srgbClr val="C454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64592"/>
            <a:ext cx="20116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Engel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38912"/>
            <a:ext cx="113385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Hızı kesen yedi hata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822960"/>
            <a:ext cx="113385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E6D6EC"/>
                </a:solidFill>
                <a:latin typeface="Calibri"/>
              </a:rPr>
              <a:t>Bunları yaparsan teknikler çalışmaz gibi gelir. Çoğu zaman teknik değil, dağınıklık bozar.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371600"/>
            <a:ext cx="114300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444752"/>
            <a:ext cx="23774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C45476"/>
                </a:solidFill>
                <a:latin typeface="Calibri"/>
              </a:rPr>
              <a:t>Çok dilek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1444752"/>
            <a:ext cx="8503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20182A"/>
                </a:solidFill>
                <a:latin typeface="Calibri"/>
              </a:rPr>
              <a:t>Aynı hafta para, ilişki, ev, iş. Birini seç.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2057400"/>
            <a:ext cx="11430000" cy="621792"/>
          </a:xfrm>
          <a:prstGeom prst="roundRect">
            <a:avLst>
              <a:gd name="adj" fmla="val 6000"/>
            </a:avLst>
          </a:prstGeom>
          <a:solidFill>
            <a:srgbClr val="F8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130552"/>
            <a:ext cx="23774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C45476"/>
                </a:solidFill>
                <a:latin typeface="Calibri"/>
              </a:rPr>
              <a:t>Gelecek zaman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2130552"/>
            <a:ext cx="8503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20182A"/>
                </a:solidFill>
                <a:latin typeface="Calibri"/>
              </a:rPr>
              <a:t>‘Olacak’ cümlesi isteği sürekli yarına iter.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743200"/>
            <a:ext cx="114300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816352"/>
            <a:ext cx="23774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C45476"/>
                </a:solidFill>
                <a:latin typeface="Calibri"/>
              </a:rPr>
              <a:t>Kanıt avı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2816352"/>
            <a:ext cx="8503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20182A"/>
                </a:solidFill>
                <a:latin typeface="Calibri"/>
              </a:rPr>
              <a:t>Her saat ‘geldi mi’ diye bakmak, yokluk hissini büyütür.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3429000"/>
            <a:ext cx="11430000" cy="621792"/>
          </a:xfrm>
          <a:prstGeom prst="roundRect">
            <a:avLst>
              <a:gd name="adj" fmla="val 6000"/>
            </a:avLst>
          </a:prstGeom>
          <a:solidFill>
            <a:srgbClr val="F8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3502152"/>
            <a:ext cx="23774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C45476"/>
                </a:solidFill>
                <a:latin typeface="Calibri"/>
              </a:rPr>
              <a:t>Başkasını zorlamak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3502152"/>
            <a:ext cx="8503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20182A"/>
                </a:solidFill>
                <a:latin typeface="Calibri"/>
              </a:rPr>
              <a:t>Birinin seni seçmesini dayatmak. Serbest, karşılıklı hali iste.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4114800"/>
            <a:ext cx="114300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4187952"/>
            <a:ext cx="23774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C45476"/>
                </a:solidFill>
                <a:latin typeface="Calibri"/>
              </a:rPr>
              <a:t>Sadece hayal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17520" y="4187952"/>
            <a:ext cx="8503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20182A"/>
                </a:solidFill>
                <a:latin typeface="Calibri"/>
              </a:rPr>
              <a:t>Gündüz sıfır adım. WOOP atlanmış demektir.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" y="4800600"/>
            <a:ext cx="11430000" cy="621792"/>
          </a:xfrm>
          <a:prstGeom prst="roundRect">
            <a:avLst>
              <a:gd name="adj" fmla="val 6000"/>
            </a:avLst>
          </a:prstGeom>
          <a:solidFill>
            <a:srgbClr val="F8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4873752"/>
            <a:ext cx="23774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C45476"/>
                </a:solidFill>
                <a:latin typeface="Calibri"/>
              </a:rPr>
              <a:t>Teknik koleksiyonu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17520" y="4873752"/>
            <a:ext cx="8503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20182A"/>
                </a:solidFill>
                <a:latin typeface="Calibri"/>
              </a:rPr>
              <a:t>Her gün yeni yöntem. 7 gün aynı protokol.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65760" y="5486400"/>
            <a:ext cx="114300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5559552"/>
            <a:ext cx="23774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C45476"/>
                </a:solidFill>
                <a:latin typeface="Calibri"/>
              </a:rPr>
              <a:t>İnanç eşiğini aşmak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17520" y="5559552"/>
            <a:ext cx="8503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20182A"/>
                </a:solidFill>
                <a:latin typeface="Calibri"/>
              </a:rPr>
              <a:t>Cümle alay ettiriyorsa küçült. İnanılır gerilim kalsın.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6547104"/>
            <a:ext cx="102412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6E6076"/>
                </a:solidFill>
                <a:latin typeface="Calibri"/>
              </a:rPr>
              <a:t>7 günde hızlı manifest  •  tek istek  •  369 + SATS + WOOP  •  her gün 1 somut adım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18520" y="6547104"/>
            <a:ext cx="822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 i="0">
                <a:solidFill>
                  <a:srgbClr val="6E6076"/>
                </a:solidFill>
                <a:latin typeface="Calibri"/>
              </a:rPr>
              <a:t>10/12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15568"/>
          </a:xfrm>
          <a:prstGeom prst="rect">
            <a:avLst/>
          </a:prstGeom>
          <a:solidFill>
            <a:srgbClr val="2A1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695" cy="73152"/>
          </a:xfrm>
          <a:prstGeom prst="rect">
            <a:avLst/>
          </a:prstGeom>
          <a:solidFill>
            <a:srgbClr val="C99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5760" y="146304"/>
            <a:ext cx="2011680" cy="256032"/>
          </a:xfrm>
          <a:prstGeom prst="roundRect">
            <a:avLst>
              <a:gd name="adj" fmla="val 50000"/>
            </a:avLst>
          </a:prstGeom>
          <a:solidFill>
            <a:srgbClr val="C454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64592"/>
            <a:ext cx="20116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Harita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38912"/>
            <a:ext cx="113385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Nereleri araştır, nerede takılma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822960"/>
            <a:ext cx="113385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E6D6EC"/>
                </a:solidFill>
                <a:latin typeface="Calibri"/>
              </a:rPr>
              <a:t>Önce kısa asıllar. Sonsuz reel değil. 7 gün pratik, sonra okuma.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417320"/>
            <a:ext cx="3703320" cy="4892040"/>
          </a:xfrm>
          <a:prstGeom prst="roundRect">
            <a:avLst>
              <a:gd name="adj" fmla="val 6000"/>
            </a:avLst>
          </a:prstGeom>
          <a:solidFill>
            <a:srgbClr val="C454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600200"/>
            <a:ext cx="33375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Bu hafta oku (kısa)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240280"/>
            <a:ext cx="3337560" cy="3794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• Neville Goddard — Feeling is the Secret (kısa, SATS’ın kaynağı)
• Neville — The Power of Awareness (kimlik / varsayım)
• woopmylife.org — WOOP’u 5 dakikada öğren
• Gollwitzer: “eğer-o zaman” planları (uygulama niyeti)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1417320"/>
            <a:ext cx="3703320" cy="4892040"/>
          </a:xfrm>
          <a:prstGeom prst="roundRect">
            <a:avLst>
              <a:gd name="adj" fmla="val 6000"/>
            </a:avLst>
          </a:prstGeom>
          <a:solidFill>
            <a:srgbClr val="2A1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4840" y="1600200"/>
            <a:ext cx="33375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Sonra, istersen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2240280"/>
            <a:ext cx="3337560" cy="3794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• Neville — The Law and the Promise (örnek hikâyeler)
• Gabriele Oettingen — Rethinking Positive Thinking
• James Clear — Atomic Habits (küçük günlük adım)
• r/NevilleGoddard — dikkat: başarı hikâyesi bağımlılığı yapma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1417320"/>
            <a:ext cx="3703320" cy="4892040"/>
          </a:xfrm>
          <a:prstGeom prst="roundRect">
            <a:avLst>
              <a:gd name="adj" fmla="val 6000"/>
            </a:avLst>
          </a:prstGeom>
          <a:solidFill>
            <a:srgbClr val="C99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1600200"/>
            <a:ext cx="33375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2A163A"/>
                </a:solidFill>
                <a:latin typeface="Calibri"/>
              </a:rPr>
              <a:t>Şimdilik uzak dur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240280"/>
            <a:ext cx="3337560" cy="3794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2A163A"/>
                </a:solidFill>
                <a:latin typeface="Calibri"/>
              </a:rPr>
              <a:t>• Her gün başka koç, başka ‘anında zengin ol’ videosu
• 10 tekniği aynı anda karıştıran listeler
• Başkasının iradesini manipüle etme vaatleri
• The Secret’i tek kaynak sanmak (çok genel kalır)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547104"/>
            <a:ext cx="102412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6E6076"/>
                </a:solidFill>
                <a:latin typeface="Calibri"/>
              </a:rPr>
              <a:t>7 günde hızlı manifest  •  tek istek  •  369 + SATS + WOOP  •  her gün 1 somut adım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18520" y="6547104"/>
            <a:ext cx="822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 i="0">
                <a:solidFill>
                  <a:srgbClr val="6E6076"/>
                </a:solidFill>
                <a:latin typeface="Calibri"/>
              </a:rPr>
              <a:t>11/12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15568"/>
          </a:xfrm>
          <a:prstGeom prst="rect">
            <a:avLst/>
          </a:prstGeom>
          <a:solidFill>
            <a:srgbClr val="2A1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695" cy="73152"/>
          </a:xfrm>
          <a:prstGeom prst="rect">
            <a:avLst/>
          </a:prstGeom>
          <a:solidFill>
            <a:srgbClr val="C99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5760" y="146304"/>
            <a:ext cx="2011680" cy="256032"/>
          </a:xfrm>
          <a:prstGeom prst="roundRect">
            <a:avLst>
              <a:gd name="adj" fmla="val 50000"/>
            </a:avLst>
          </a:prstGeom>
          <a:solidFill>
            <a:srgbClr val="C454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64592"/>
            <a:ext cx="20116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Bugün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38912"/>
            <a:ext cx="113385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20 dakikada başla — sonra defteri kapat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822960"/>
            <a:ext cx="113385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E6D6EC"/>
                </a:solidFill>
                <a:latin typeface="Calibri"/>
              </a:rPr>
              <a:t>Mükemmel cümle arama. %80 netlik yeter. Hareket cümleyi düzeltir.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353312"/>
            <a:ext cx="777240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499616"/>
            <a:ext cx="1417320" cy="347472"/>
          </a:xfrm>
          <a:prstGeom prst="roundRect">
            <a:avLst>
              <a:gd name="adj" fmla="val 50000"/>
            </a:avLst>
          </a:prstGeom>
          <a:solidFill>
            <a:srgbClr val="C454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536192"/>
            <a:ext cx="1417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0–3 dk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1444752"/>
            <a:ext cx="58521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20182A"/>
                </a:solidFill>
                <a:latin typeface="Calibri"/>
              </a:rPr>
              <a:t>Tek isteği bir satıra yaz. Süzgeçten geçir.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2066543"/>
            <a:ext cx="777240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02920" y="2212848"/>
            <a:ext cx="1417320" cy="347472"/>
          </a:xfrm>
          <a:prstGeom prst="roundRect">
            <a:avLst>
              <a:gd name="adj" fmla="val 50000"/>
            </a:avLst>
          </a:prstGeom>
          <a:solidFill>
            <a:srgbClr val="C454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249424"/>
            <a:ext cx="1417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3–7 dk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7400" y="2157984"/>
            <a:ext cx="58521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20182A"/>
                </a:solidFill>
                <a:latin typeface="Calibri"/>
              </a:rPr>
              <a:t>369 cümlesini yaz. Sesli oku. Vücutta sıkışma varsa yumuşat.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2779776"/>
            <a:ext cx="777240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2926080"/>
            <a:ext cx="1417320" cy="347472"/>
          </a:xfrm>
          <a:prstGeom prst="roundRect">
            <a:avLst>
              <a:gd name="adj" fmla="val 50000"/>
            </a:avLst>
          </a:prstGeom>
          <a:solidFill>
            <a:srgbClr val="C454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2962656"/>
            <a:ext cx="1417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7–12 dk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7400" y="2871216"/>
            <a:ext cx="58521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20182A"/>
                </a:solidFill>
                <a:latin typeface="Calibri"/>
              </a:rPr>
              <a:t>SATS sahnesini 5 saniyeye indir. Kağıda 3 duyusal ayrıntı.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3493008"/>
            <a:ext cx="777240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02920" y="3639312"/>
            <a:ext cx="1417320" cy="347472"/>
          </a:xfrm>
          <a:prstGeom prst="roundRect">
            <a:avLst>
              <a:gd name="adj" fmla="val 50000"/>
            </a:avLst>
          </a:prstGeom>
          <a:solidFill>
            <a:srgbClr val="C454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3675887"/>
            <a:ext cx="1417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12–16 dk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57400" y="3584448"/>
            <a:ext cx="58521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20182A"/>
                </a:solidFill>
                <a:latin typeface="Calibri"/>
              </a:rPr>
              <a:t>WOOP: istek / sonuç / iç engel / eğer-o zaman.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4206240"/>
            <a:ext cx="777240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02920" y="4352544"/>
            <a:ext cx="1417320" cy="347472"/>
          </a:xfrm>
          <a:prstGeom prst="roundRect">
            <a:avLst>
              <a:gd name="adj" fmla="val 50000"/>
            </a:avLst>
          </a:prstGeom>
          <a:solidFill>
            <a:srgbClr val="C454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4389120"/>
            <a:ext cx="1417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16–20 dk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57400" y="4297679"/>
            <a:ext cx="58521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20182A"/>
                </a:solidFill>
                <a:latin typeface="Calibri"/>
              </a:rPr>
              <a:t>Bugünün 1 adımını bitir. Sonra akşam 9 yazış + SATS.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1353312"/>
            <a:ext cx="3474720" cy="4937760"/>
          </a:xfrm>
          <a:prstGeom prst="roundRect">
            <a:avLst>
              <a:gd name="adj" fmla="val 6000"/>
            </a:avLst>
          </a:prstGeom>
          <a:solidFill>
            <a:srgbClr val="2A1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03920" y="1554480"/>
            <a:ext cx="3108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C99A4A"/>
                </a:solidFill>
                <a:latin typeface="Calibri"/>
              </a:rPr>
              <a:t>Kilit cümle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2286000"/>
            <a:ext cx="310896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Bir istek.
Aynı cümle.
Aynı sahne.
Her gün bir adım.
7 gün sonra yeni teknik arama. 21 güne uzat.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547104"/>
            <a:ext cx="102412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6E6076"/>
                </a:solidFill>
                <a:latin typeface="Calibri"/>
              </a:rPr>
              <a:t>7 günde hızlı manifest  •  tek istek  •  369 + SATS + WOOP  •  her gün 1 somut adım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018520" y="6547104"/>
            <a:ext cx="822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 i="0">
                <a:solidFill>
                  <a:srgbClr val="6E6076"/>
                </a:solidFill>
                <a:latin typeface="Calibri"/>
              </a:rPr>
              <a:t>12/12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
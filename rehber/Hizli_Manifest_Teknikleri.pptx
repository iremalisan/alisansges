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21240" y="0"/>
            <a:ext cx="2276856" cy="6858000"/>
          </a:xfrm>
          <a:prstGeom prst="rect">
            <a:avLst/>
          </a:prstGeom>
          <a:solidFill>
            <a:srgbClr val="3E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 YAP  •  NEREYE BAK  •  BUGÜN BAŞLA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Kendi arabam
için 7 günlük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ECDCE8"/>
                </a:solidFill>
                <a:latin typeface="Calibri"/>
              </a:rPr>
              <a:t>Cümleyi yaz. Direksiyonda uyu. Gündüz bir araba adımı at.
Bu 7 günün tek isteği: kendi araban.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5623560" cy="457200"/>
          </a:xfrm>
          <a:prstGeom prst="roundRect">
            <a:avLst>
              <a:gd name="adj" fmla="val 50000"/>
            </a:avLst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005072"/>
            <a:ext cx="5623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A163A"/>
                </a:solidFill>
                <a:latin typeface="Calibri"/>
              </a:rPr>
              <a:t>Kilit cümle: kendi arabamla yola çıkıyorum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0" y="1325880"/>
            <a:ext cx="822960" cy="8229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1545336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20370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Netleş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0" y="2743200"/>
            <a:ext cx="822960" cy="8229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2962656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62102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Hisset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4160520"/>
            <a:ext cx="822960" cy="82296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4379976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5038344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Hareket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4B0CC"/>
                </a:solidFill>
                <a:latin typeface="Calibri"/>
              </a:rPr>
              <a:t>Pratik protokol  •  ezoterik vaat değil, günlük sistem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Çerçeve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Araba ‘gelsin’ diye beklemek neden yavaştır?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Hız = direksiyon hissi + bugün atılan 1 araba adımı.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Yavaş yol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20 model, 20 reel, ‘birden param gelir’ diye beklemek. Zihin dağılır, araba hayali kalır.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Hızlı yol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7 gün sadece kendi araban. Aynı cümle. Aynı gece sahnesi. Her gün 10 dakikalık gerçek adım: bütçe, ilan, galeri, biriktirme.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Dürüst kural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Anahtar evrene sipariş değildir. Dikkatini ve adımını arabaya kilitlersen fırsat, ilan ve cesaret daha çabuk görünür.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663440"/>
            <a:ext cx="11430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00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5476"/>
                </a:solidFill>
                <a:latin typeface="Calibri"/>
              </a:rPr>
              <a:t>Bu paketin formülü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Neville’in SATS’ı (uykuya yakın halde direksiyonda ‘bu benim’ hissi) + 369 (günde 18 kez aynı araba cümlesi) + WOOP (para korkusu ve ertelemeyi 2 dakikalık plana bağlamak). Hayal tek başına yetmez; araba, bütçe ve bir telefonla yaklaşır.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Kural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 7 günün tek isteği: kendi arabam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Ev, iş, ilişki yok. Sadece araba. Model savaşını da 3 adaya indir.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7040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A163A"/>
                </a:solidFill>
                <a:latin typeface="Calibri"/>
              </a:rPr>
              <a:t>Cümle formülü (25 kelimeyi geçme)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6583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Senin kilit cümlen:
“Çok minnettarım, kendi arabamla yola çıkıyorum ve özgür hissediyorum.”
Şimdi zamanı. ‘İstiyorum / olacak’ yok. Marka takıntısı yok; his ‘kendi arabam’.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383280"/>
            <a:ext cx="6583680" cy="585216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B04048"/>
                </a:solidFill>
                <a:latin typeface="Calibri"/>
              </a:rPr>
              <a:t>Zayıf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5166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0182A"/>
                </a:solidFill>
                <a:latin typeface="Calibri"/>
              </a:rPr>
              <a:t>Araba istiyorum, bir an önce olsun.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41648"/>
            <a:ext cx="6583680" cy="585216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87368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E8060"/>
                </a:solidFill>
                <a:latin typeface="Calibri"/>
              </a:rPr>
              <a:t>Güçlü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87368"/>
            <a:ext cx="5166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0182A"/>
                </a:solidFill>
                <a:latin typeface="Calibri"/>
              </a:rPr>
              <a:t>Çok minnettarım, kendi arabamla yola çıkıyorum ve özgür hissediyorum.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00016"/>
            <a:ext cx="6583680" cy="585216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45736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B04048"/>
                </a:solidFill>
                <a:latin typeface="Calibri"/>
              </a:rPr>
              <a:t>Zayıf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45736"/>
            <a:ext cx="5166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0182A"/>
                </a:solidFill>
                <a:latin typeface="Calibri"/>
              </a:rPr>
              <a:t>Param yetmez, belki biri alır.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58384"/>
            <a:ext cx="6583680" cy="585216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04104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E8060"/>
                </a:solidFill>
                <a:latin typeface="Calibri"/>
              </a:rPr>
              <a:t>Güçlü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04104"/>
            <a:ext cx="5166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0182A"/>
                </a:solidFill>
                <a:latin typeface="Calibri"/>
              </a:rPr>
              <a:t>Kendi arabamın anahtarı çantamda; her yere rahatça gidiyorum.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417320"/>
            <a:ext cx="4206240" cy="4892040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6002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A163A"/>
                </a:solidFill>
                <a:latin typeface="Calibri"/>
              </a:rPr>
              <a:t>Seçim süzgeci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0" y="2194560"/>
            <a:ext cx="347472" cy="347472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24028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4884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90 günde peşinat / kredi / 2. el mümkün mü?</a:t>
            </a:r>
          </a:p>
        </p:txBody>
      </p:sp>
      <p:sp>
        <p:nvSpPr>
          <p:cNvPr id="29" name="Oval 28"/>
          <p:cNvSpPr/>
          <p:nvPr/>
        </p:nvSpPr>
        <p:spPr>
          <a:xfrm>
            <a:off x="7818120" y="2926080"/>
            <a:ext cx="347472" cy="347472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97180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88036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Direksiyonda hayal edince vücut yumuşuyor mu?</a:t>
            </a:r>
          </a:p>
        </p:txBody>
      </p:sp>
      <p:sp>
        <p:nvSpPr>
          <p:cNvPr id="32" name="Oval 31"/>
          <p:cNvSpPr/>
          <p:nvPr/>
        </p:nvSpPr>
        <p:spPr>
          <a:xfrm>
            <a:off x="7818120" y="3657600"/>
            <a:ext cx="347472" cy="347472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370332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6118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Bugün atabileceğin 1 araba adımı var mı?</a:t>
            </a:r>
          </a:p>
        </p:txBody>
      </p:sp>
      <p:sp>
        <p:nvSpPr>
          <p:cNvPr id="35" name="Oval 34"/>
          <p:cNvSpPr/>
          <p:nvPr/>
        </p:nvSpPr>
        <p:spPr>
          <a:xfrm>
            <a:off x="7818120" y="4389120"/>
            <a:ext cx="347472" cy="347472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43484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4340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Başkasının sana araba almasını dayatmıyor musun?</a:t>
            </a:r>
          </a:p>
        </p:txBody>
      </p:sp>
      <p:sp>
        <p:nvSpPr>
          <p:cNvPr id="38" name="Oval 37"/>
          <p:cNvSpPr/>
          <p:nvPr/>
        </p:nvSpPr>
        <p:spPr>
          <a:xfrm>
            <a:off x="7818120" y="5120640"/>
            <a:ext cx="347472" cy="347472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516636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7492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Ölçülebilir mi? (bütçe aralığı, 2. el / yeni)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Günde 20–25 dakika, dört katman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Aynı sırayı 7 gün bozma. Yeni teknik ekleme.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300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Sabah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536192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2A163A"/>
                </a:solidFill>
                <a:latin typeface="Calibri"/>
              </a:rPr>
              <a:t>5 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Uyanır uyanmaz araba cümlenı 3 kez elle yaz. Bitince 10 saniye: anahtar elde, direksiyonda ‘bu benim’.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60320"/>
            <a:ext cx="11430000" cy="1078992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4436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Gündüz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24912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2A163A"/>
                </a:solidFill>
                <a:latin typeface="Calibri"/>
              </a:rPr>
              <a:t>10 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Bugünün araba adımını bitir: bütçe, ilan, galeri, sigorta veya biriktirme. Bitirmeden kaydırma.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114300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7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İkindi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913631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2A163A"/>
                </a:solidFill>
                <a:latin typeface="Calibri"/>
              </a:rPr>
              <a:t>5 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3192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Aynı cümleyi 6 kez yaz. ‘Param yetmez’ gelirse yaz ve kapat; cümleyi tartışma.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937760"/>
            <a:ext cx="11430000" cy="1078992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218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Gece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102352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2A163A"/>
                </a:solidFill>
                <a:latin typeface="Calibri"/>
              </a:rPr>
              <a:t>8 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12064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Cümleyi 9 kez yaz. Yatağa gir. Anahtarı çevirdiğin 5 saniyelik sahneyi uykuya kadar döngüle.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Teknik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369: aynı cümleyi 3 + 6 + 9 yaz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Tesla’ya ait sihirli bir formül değil. Dikkat kilidi. Elle yazmak ekrandan daha iyi işler.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Sabah 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3337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Yataktan kalkınca, ilan sitesini açmadan.
Amaç: günün ilk izi ‘kendi arabam’ olsun.
Her satırda 1 saniye direksiyon hissi: elin simitte, omuzlar düşük.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9A4A"/>
                </a:solidFill>
                <a:latin typeface="Calibri"/>
              </a:rPr>
              <a:t>Öğlen ×6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337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Günün ortasında ‘alamam’ gelir. 6 tekrar onu geri çağırır.
Şüphe gelirse bir satır yaz: “Nasıl olacağını bilmiyorum, anahtar yine de benim.” Sonra 369’a dön.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A163A"/>
                </a:solidFill>
                <a:latin typeface="Calibri"/>
              </a:rPr>
              <a:t>Gece ×9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291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A163A"/>
                </a:solidFill>
                <a:latin typeface="Calibri"/>
              </a:rPr>
              <a:t>Uyumadan 30 dakika içinde bitir.
9. satırdan sonra ilan bakma. Defteri kapat. Hemen SATS: evin önünde park, anahtarı çevir, ‘geldik’.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Teknik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Scripting: olmuş bir günü mektup gibi yaz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Haftada 2 kez, 8 dakika. 369’un uzun hali. Film değil, sıradan bir salı sabahı yaz.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75895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5506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0020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Tarih at: “21 Eylül. Bugün …”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8658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3172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Şimdiki veya geçmiş zaman: “uyandım / oturuyorum / attım”.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1810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6324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5 duyu: koku, kumaş, motor sesi, simidin ısısı.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79476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962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9476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Küçük ayrıntı: anahtarlık, ruhsat, park yeri, emniyet kemeri klik.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52628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8114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2628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Duygu: rahatlama, sıradanlık, ‘tabii ki benim arabam’.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5257800"/>
            <a:ext cx="384048" cy="384048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1266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5780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0182A"/>
                </a:solidFill>
                <a:latin typeface="Calibri"/>
              </a:rPr>
              <a:t>Bir teşekkür cümlesi ile bitir. Defteri kapat. Okuyup düzeltme.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1732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A163A"/>
                </a:solidFill>
                <a:latin typeface="Calibri"/>
              </a:rPr>
              <a:t>Mini örnek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10312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“Salı sabahı kendi arabamın kapısını açıyorum. Koltuk bana göre. Anahtarı çeviriyorum, motor tok çalışıyor. Evin önünden çıkıp yola karışıyorum. Teşekkür ederim, bu artık normalim.”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Teknik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SATS: uykunun eşiğinde 5 saniyelik sahne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Neville Goddard. Feeling is the Secret. Sahne, dileğin gerçekleşmesinden SONRA olmalıdır.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45920"/>
            <a:ext cx="502920" cy="50292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A163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Sahneyi gündüz kur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074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Evin önünde park. Çantadan kendi anahtarın. Sürücü koltuğu. Anahtarı çevir. 5–10 saniye. Birinci tekil şahıs.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A163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4592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Bedeni bırak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5074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Yat. Telefon dışarı. Ayak ucundan çeneye kadar her bölgeyi ağırlaştır. Uykulu ol, uyanık analiz etme.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977639"/>
            <a:ext cx="502920" cy="50292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A16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77639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İçeriden yaşa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5074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Kendini dışarıdan izleme. Elin, ses, oda sıcaklığı, yüzündeki ifade. GIF gibi döngüle.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977639"/>
            <a:ext cx="502920" cy="50292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069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A163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977639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Hisle uyu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5074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Heyecan değil, doğallık. ‘Tabii ki benim’ hissi. Uyuyakalmak başarıdır. Sabah sahneyi zorlama.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Teknik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WOOP: hayali eyleme çeviren bilimsel katman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Gabriele Oettingen. woopmylife.org  •  Sadece olumlu fantezi, çabayı düşürebilir.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600200"/>
            <a:ext cx="822960" cy="8229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783080"/>
            <a:ext cx="822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Wish · İstek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Kendi arabam. 369 cümlenle aynı olsun. Marka savaşını 3 adaya bırak.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1600200"/>
            <a:ext cx="822960" cy="82296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783080"/>
            <a:ext cx="822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Outcome · Sonuç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Kapıyı açıp koltuğa oturduğun an. Kemer klik. ‘Geldik’ hissi göğüste.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1600200"/>
            <a:ext cx="822960" cy="8229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783080"/>
            <a:ext cx="822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Obstacle · Engel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Dış fiyat değil: ‘param yetmez’ kaydırması, ilanlara bakıp hiçbirini aramamak.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417320"/>
            <a:ext cx="2788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04120" y="1600200"/>
            <a:ext cx="822960" cy="822960"/>
          </a:xfrm>
          <a:prstGeom prst="ellipse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783080"/>
            <a:ext cx="822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Plan ·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17520"/>
            <a:ext cx="2423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Eğer ‘alamam’ gelirse, o zaman 2 dk: biriktirme notu veya 1 ilan mesajı.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212080"/>
            <a:ext cx="11430000" cy="114300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060"/>
                </a:solidFill>
                <a:latin typeface="Calibri"/>
              </a:rPr>
              <a:t>Hazır plan örneği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6692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Eğer öğleden sonra ‘nasıl olsa araba alamam’ diye kaydırırsam, o zaman telefonu bırakır, bütçe satırını doldurur veya 1 satıcıya mesaj atarım.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Takvim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7 günde arabaya yaklaş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Her gün: 369 + SATS + 1 araba adımı. Tema değişir, sistem değişmez.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Netleş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Cümle + SATS sahnesi. Bütçe aralığı ve 2. el / yeni kararı. En fazla 3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1460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Ritim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Aynı cümle. Ehliyet, trafik sigortası, kasko için kaba fiyat. Biriktirme hesabı aç veya ayır.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624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Hikâye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8 dk scripting: salı sabahı kendi araban. 5 ilan kaydet, 2’sini yaz.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9788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Engel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‘Param yetmez’i adlandır. İlk küçük transferi yap. WOOP planını sıkılaştır.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Kimlik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Galeride benzer bir arabaya otur veya park yerinden geç. ‘Zaten sürücüyüm’ günü.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ED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8116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Kanıt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1 satıcı / galeri ara. 1 ekspertiz veya fiyat sor. 3 küçük işaret not 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69880" y="1371600"/>
            <a:ext cx="16002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72800" y="1554480"/>
            <a:ext cx="594360" cy="594360"/>
          </a:xfrm>
          <a:prstGeom prst="ellipse">
            <a:avLst/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1664208"/>
            <a:ext cx="594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2286000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A163A"/>
                </a:solidFill>
                <a:latin typeface="Calibri"/>
              </a:rPr>
              <a:t>Mühürle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2971800"/>
            <a:ext cx="14173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0182A"/>
                </a:solidFill>
                <a:latin typeface="Calibri"/>
              </a:rPr>
              <a:t>3 adayı 1–2’ye indir. 21 güne kilit: her hafta 1 bakış + her hafta 1 biriktirme.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Engel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Hızı kesen yedi hata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Bunları yaparsan teknikler çalışmaz gibi gelir. Çoğu zaman teknik değil, dağınıklık bozar.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20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4447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Her gün başka araba. En fazla 3 aday, sonra 1–2.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Gelecek zaman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305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‘Araba olacak’ cümlesi anahtarı yarına iter.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432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163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İlan avı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8163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Saatlerce bakıp hiçbirini aramamak yokluk hissini büyütür.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290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021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Mucize peşinat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021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Birinin sana almasını beklemek. Senin adımın: biriktir / kredi / 2. 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148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Sadece hayal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879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Direksiyon sahnesi var, galeri yok. WOOP atlanmış demektir.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8006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737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Lüks eşiği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8737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Cümle alay ettiriyorsa önce sahibinden 2. el, sonra yükselt.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48640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595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45476"/>
                </a:solidFill>
                <a:latin typeface="Calibri"/>
              </a:rPr>
              <a:t>Teknik koleksiyonu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559552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0182A"/>
                </a:solidFill>
                <a:latin typeface="Calibri"/>
              </a:rPr>
              <a:t>Her gün yeni yöntem. 7 gün aynı araba protokolü.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Nereleri araştır, nerede takılma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Önce kısa asıllar. Sonsuz reel değil. 7 gün pratik, sonra okuma.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 hafta oku (kısa)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33756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Neville — Feeling is the Secret (SATS)
• 369 cümlesi: kendi arabamla yola çıkıyorum
• woopmylife.org — para korkusunu plana bağla
• Sahibinden / galeri: 3 aday, gerçek fiyat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Sonra, istersen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33756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The Power of Awareness (sürücü kimliği)
• Rethinking Positive Thinking (WOOP kitabı)
• 2. el: ekspertiz, tramer, kasko teklifi
• Ehliyet / yetki belgesi eksikse onu da takvime 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703320" cy="4892040"/>
          </a:xfrm>
          <a:prstGeom prst="roundRect">
            <a:avLst>
              <a:gd name="adj" fmla="val 6000"/>
            </a:avLst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163A"/>
                </a:solidFill>
                <a:latin typeface="Calibri"/>
              </a:rPr>
              <a:t>Şimdilik uzak dur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40280"/>
            <a:ext cx="333756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163A"/>
                </a:solidFill>
                <a:latin typeface="Calibri"/>
              </a:rPr>
              <a:t>• ‘Evren bugün araba yollar’ reelleri
• 10 modeli aynı anda hayal etmek
• Marka takıntısı yüzünden 0 adım
• Sadece hayal edip ilan / biriktirme yok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C9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Bugün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20 dakikada başla — sonra defteri kapat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6D6EC"/>
                </a:solidFill>
                <a:latin typeface="Calibri"/>
              </a:rPr>
              <a:t>Mükemmel cümle arama. %80 netlik yeter. Hareket cümleyi düzeltir.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5331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9961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361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0–3 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444752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Kilit cümleyi yaz: kendi arabamla yola çıkıyorum.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66543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4942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3–7 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157984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Bütçe alt–üst ve 2. el / yeni. En fazla 3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79776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9260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6265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7–12 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871216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SATS: evin önü, kendi anahtarın, çevir, kemer klik.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493008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3931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75887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12–16 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584448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WOOP: ‘param yetmez’ → 2 dk biriktirme veya 1 mesaj.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0624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35254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4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16–20 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297679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20182A"/>
                </a:solidFill>
                <a:latin typeface="Calibri"/>
              </a:rPr>
              <a:t>Bugün 1 ilan kaydet veya 1 fiyat sor. Akşam 9 yazış + SATS.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353312"/>
            <a:ext cx="3474720" cy="4937760"/>
          </a:xfrm>
          <a:prstGeom prst="roundRect">
            <a:avLst>
              <a:gd name="adj" fmla="val 6000"/>
            </a:avLst>
          </a:prstGeom>
          <a:solidFill>
            <a:srgbClr val="2A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5544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99A4A"/>
                </a:solidFill>
                <a:latin typeface="Calibri"/>
              </a:rPr>
              <a:t>Kilit cümle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86000"/>
            <a:ext cx="31089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Kendi arabam.
Aynı cümle.
Anahtarı çevir.
Her gün 1 adım.
7 gün sonra yeni teknik arama. 21 güne uzat.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076"/>
                </a:solidFill>
                <a:latin typeface="Calibri"/>
              </a:rPr>
              <a:t>Kendi arabam  •  369 + SATS + WOOP  •  her gün 1 araba adımı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E6076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
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4160520" cy="347472"/>
          </a:xfrm>
          <a:prstGeom prst="roundRect">
            <a:avLst>
              <a:gd name="adj" fmla="val 50000"/>
            </a:avLst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4160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0A2448"/>
                </a:solidFill>
                <a:latin typeface="Calibri"/>
              </a:rPr>
              <a:t>SU VERİMLİLİĞİ  •  BİRA SEKTÖRÜ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694944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Bira Firmaları için
Mavi Su Belgesi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429000"/>
            <a:ext cx="67665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D2E4EE"/>
                </a:solidFill>
                <a:latin typeface="Calibri"/>
              </a:rPr>
              <a:t>NACE 11.05 bira imalatında su verimliliği sistemini kurmak,
7 kriteri sağlamak ve belgeye başvurmak — yükümlü veya gönüllü.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0916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00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75488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 adım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470916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4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475488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Örnekli anlatım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470916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1A8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475488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Zorunlu + gönüllü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263640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B0C8D8"/>
                </a:solidFill>
                <a:latin typeface="Calibri"/>
              </a:rPr>
              <a:t>Tarım ve Orman Bakanlığı  •  Su Verimliliği Yönetmeliği (RG 27.12.2024 / 32765)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263640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B0C8D8"/>
                </a:solidFill>
                <a:latin typeface="Calibri"/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1078992"/>
          </a:xfrm>
          <a:prstGeom prst="rect">
            <a:avLst/>
          </a:prstGeom>
          <a:solidFill>
            <a:srgbClr val="0A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D6942A"/>
                </a:solidFill>
                <a:latin typeface="Calibri"/>
              </a:rPr>
              <a:t>BAĞLAM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38912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Neden su verimliliği, neden bira?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BAD6E6"/>
                </a:solidFill>
                <a:latin typeface="Calibri"/>
              </a:rPr>
              <a:t>Bira suyunun kendisidir; belge ise bu suyu ölçülebilir ve izlenebilir hale getirir.</a:t>
            </a:r>
          </a:p>
        </p:txBody>
      </p:sp>
      <p:pic>
        <p:nvPicPr>
          <p:cNvPr id="8" name="Picture 7" descr="p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417320"/>
            <a:ext cx="3977639" cy="3063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818120" y="4480560"/>
            <a:ext cx="3977639" cy="1691640"/>
          </a:xfrm>
          <a:prstGeom prst="roundRect">
            <a:avLst>
              <a:gd name="adj" fmla="val 6000"/>
            </a:avLst>
          </a:prstGeom>
          <a:solidFill>
            <a:srgbClr val="0A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4617720"/>
            <a:ext cx="3657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D6942A"/>
                </a:solidFill>
                <a:latin typeface="Calibri"/>
              </a:rPr>
              <a:t>Sektör gerçeği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4937760"/>
            <a:ext cx="3657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1 litre bira için tesislerde genelde 4–8 litre su harcanır. Temizliğin (CIP) payı %40’a yaklaşabilir.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" y="1463040"/>
            <a:ext cx="2286000" cy="214884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" y="1417320"/>
            <a:ext cx="22860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02920" y="1572768"/>
            <a:ext cx="384048" cy="384048"/>
          </a:xfrm>
          <a:prstGeom prst="ellipse">
            <a:avLst/>
          </a:prstGeom>
          <a:solidFill>
            <a:srgbClr val="00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057400"/>
            <a:ext cx="2011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A2448"/>
                </a:solidFill>
                <a:latin typeface="Calibri"/>
              </a:rPr>
              <a:t>2,5–10 L/kg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697480"/>
            <a:ext cx="201168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A687A"/>
                </a:solidFill>
                <a:latin typeface="Calibri"/>
              </a:rPr>
              <a:t>Bakanlık rehberi referans
spesifik su aralığı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25496" y="1463040"/>
            <a:ext cx="2286000" cy="214884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88920" y="1417320"/>
            <a:ext cx="22860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26080" y="1572768"/>
            <a:ext cx="384048" cy="384048"/>
          </a:xfrm>
          <a:prstGeom prst="ellipse">
            <a:avLst/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2057400"/>
            <a:ext cx="2011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A2448"/>
                </a:solidFill>
                <a:latin typeface="Calibri"/>
              </a:rPr>
              <a:t>%23–40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2697480"/>
            <a:ext cx="201168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A687A"/>
                </a:solidFill>
                <a:latin typeface="Calibri"/>
              </a:rPr>
              <a:t>Uygulanabilir tekniklerle
beklenen su kazanımı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48656" y="1463040"/>
            <a:ext cx="2286000" cy="214884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12080" y="1417320"/>
            <a:ext cx="22860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49240" y="1572768"/>
            <a:ext cx="384048" cy="384048"/>
          </a:xfrm>
          <a:prstGeom prst="ellipse">
            <a:avLst/>
          </a:prstGeom>
          <a:solidFill>
            <a:srgbClr val="24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240" y="2057400"/>
            <a:ext cx="2011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A2448"/>
                </a:solidFill>
                <a:latin typeface="Calibri"/>
              </a:rPr>
              <a:t>~1.300 m³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2697480"/>
            <a:ext cx="201168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A687A"/>
                </a:solidFill>
                <a:latin typeface="Calibri"/>
              </a:rPr>
              <a:t>Türkiye’de kişi başı
yıllık kullanılabilir su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2336" y="3794759"/>
            <a:ext cx="7223760" cy="242316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65760" y="3749039"/>
            <a:ext cx="7223760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886200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0A2448"/>
                </a:solidFill>
                <a:latin typeface="Calibri"/>
              </a:rPr>
              <a:t>Bira tesisinde suyun gittiği yer (örnek dağılım)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297680"/>
            <a:ext cx="2880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C2736"/>
                </a:solidFill>
                <a:latin typeface="Calibri"/>
              </a:rPr>
              <a:t>CIP / tank-hat temizliği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74720" y="4352544"/>
            <a:ext cx="1250899" cy="182880"/>
          </a:xfrm>
          <a:prstGeom prst="roundRect">
            <a:avLst>
              <a:gd name="adj" fmla="val 40000"/>
            </a:avLst>
          </a:prstGeom>
          <a:solidFill>
            <a:srgbClr val="00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2280" y="4297680"/>
            <a:ext cx="548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0949A"/>
                </a:solidFill>
                <a:latin typeface="Calibri"/>
              </a:rPr>
              <a:t>%38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645152"/>
            <a:ext cx="2880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C2736"/>
                </a:solidFill>
                <a:latin typeface="Calibri"/>
              </a:rPr>
              <a:t>Şişe-kutu-kasa yıkama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74720" y="4700016"/>
            <a:ext cx="592531" cy="182880"/>
          </a:xfrm>
          <a:prstGeom prst="roundRect">
            <a:avLst>
              <a:gd name="adj" fmla="val 40000"/>
            </a:avLst>
          </a:prstGeom>
          <a:solidFill>
            <a:srgbClr val="24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12280" y="4645152"/>
            <a:ext cx="548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478C4"/>
                </a:solidFill>
                <a:latin typeface="Calibri"/>
              </a:rPr>
              <a:t>%18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992624"/>
            <a:ext cx="2880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C2736"/>
                </a:solidFill>
                <a:latin typeface="Calibri"/>
              </a:rPr>
              <a:t>Mayşeleme + ürün suyu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74720" y="5047488"/>
            <a:ext cx="526694" cy="182880"/>
          </a:xfrm>
          <a:prstGeom prst="roundRect">
            <a:avLst>
              <a:gd name="adj" fmla="val 40000"/>
            </a:avLst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12280" y="4992624"/>
            <a:ext cx="548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D6942A"/>
                </a:solidFill>
                <a:latin typeface="Calibri"/>
              </a:rPr>
              <a:t>%16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340096"/>
            <a:ext cx="2880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C2736"/>
                </a:solidFill>
                <a:latin typeface="Calibri"/>
              </a:rPr>
              <a:t>Soğutma / buhar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74720" y="5394959"/>
            <a:ext cx="460857" cy="182880"/>
          </a:xfrm>
          <a:prstGeom prst="roundRect">
            <a:avLst>
              <a:gd name="adj" fmla="val 40000"/>
            </a:avLst>
          </a:prstGeom>
          <a:solidFill>
            <a:srgbClr val="5C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12280" y="5340096"/>
            <a:ext cx="548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5C4EA8"/>
                </a:solidFill>
                <a:latin typeface="Calibri"/>
              </a:rPr>
              <a:t>%14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687568"/>
            <a:ext cx="2880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C2736"/>
                </a:solidFill>
                <a:latin typeface="Calibri"/>
              </a:rPr>
              <a:t>Pastörizasyon + diğer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74720" y="5742432"/>
            <a:ext cx="460857" cy="182880"/>
          </a:xfrm>
          <a:prstGeom prst="roundRect">
            <a:avLst>
              <a:gd name="adj" fmla="val 40000"/>
            </a:avLst>
          </a:prstGeom>
          <a:solidFill>
            <a:srgbClr val="D64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12280" y="5687568"/>
            <a:ext cx="548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D64E48"/>
                </a:solidFill>
                <a:latin typeface="Calibri"/>
              </a:rPr>
              <a:t>%14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565392"/>
            <a:ext cx="8686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87A"/>
                </a:solidFill>
                <a:latin typeface="Calibri"/>
              </a:rPr>
              <a:t>Bira Firmaları için Mavi Su Verimliliği Belgesi  •  Tarım ve Orman Bakanlığı mevzuatı esas alınmıştır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565392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5A687A"/>
                </a:solidFill>
                <a:latin typeface="Calibri"/>
              </a:rP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1078992"/>
          </a:xfrm>
          <a:prstGeom prst="rect">
            <a:avLst/>
          </a:prstGeom>
          <a:solidFill>
            <a:srgbClr val="0A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D6942A"/>
                </a:solidFill>
                <a:latin typeface="Calibri"/>
              </a:rPr>
              <a:t>BELGE MİMARİSİ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38912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Üç seviye: Mavi, Yeşil, Turkuaz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BAD6E6"/>
                </a:solidFill>
                <a:latin typeface="Calibri"/>
              </a:rPr>
              <a:t>Mavi belge = sistemi kurdunuz. Yeşil ve turkuaz = ölçülebilir kazanım.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" y="1463040"/>
            <a:ext cx="3703320" cy="475488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417320"/>
            <a:ext cx="370332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417320"/>
            <a:ext cx="3703320" cy="1051560"/>
          </a:xfrm>
          <a:prstGeom prst="roundRect">
            <a:avLst>
              <a:gd name="adj" fmla="val 8000"/>
            </a:avLst>
          </a:prstGeom>
          <a:solidFill>
            <a:srgbClr val="00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36192"/>
            <a:ext cx="3703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MAVİ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93392"/>
            <a:ext cx="3703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Sistem belgesi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51760"/>
            <a:ext cx="324612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C2736"/>
                </a:solidFill>
                <a:latin typeface="Calibri"/>
              </a:rPr>
              <a:t>7 kriterle su verimliliği sistemini kurun.
Yükümlüler için ilk zorunlu basamak.
Gönüllüler de aynı 7 adımı izler.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5349240"/>
            <a:ext cx="2697480" cy="384048"/>
          </a:xfrm>
          <a:prstGeom prst="roundRect">
            <a:avLst>
              <a:gd name="adj" fmla="val 50000"/>
            </a:avLst>
          </a:prstGeom>
          <a:solidFill>
            <a:srgbClr val="00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404104"/>
            <a:ext cx="2697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Geçerlilik: 5 yıl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8536" y="1463040"/>
            <a:ext cx="3703320" cy="475488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51960" y="1417320"/>
            <a:ext cx="370332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51960" y="1417320"/>
            <a:ext cx="3703320" cy="1051560"/>
          </a:xfrm>
          <a:prstGeom prst="roundRect">
            <a:avLst>
              <a:gd name="adj" fmla="val 8000"/>
            </a:avLst>
          </a:prstGeom>
          <a:solidFill>
            <a:srgbClr val="1A8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60" y="1536192"/>
            <a:ext cx="3703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YEŞİL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1993392"/>
            <a:ext cx="3703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Performans belgesi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651760"/>
            <a:ext cx="324612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C2736"/>
                </a:solidFill>
                <a:latin typeface="Calibri"/>
              </a:rPr>
              <a:t>NACE 11.05 rehber tekniklerini uygulayın.
Suyun en az %10’u alternatif kaynaktan.
ISO 46001 ilk başvuruda aranmaz.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5349240"/>
            <a:ext cx="2697480" cy="384048"/>
          </a:xfrm>
          <a:prstGeom prst="roundRect">
            <a:avLst>
              <a:gd name="adj" fmla="val 50000"/>
            </a:avLst>
          </a:prstGeom>
          <a:solidFill>
            <a:srgbClr val="1A8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5404104"/>
            <a:ext cx="2697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Yükümlü: en fazla 5 yıl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74736" y="1463040"/>
            <a:ext cx="3703320" cy="475488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38160" y="1417320"/>
            <a:ext cx="370332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38160" y="1417320"/>
            <a:ext cx="3703320" cy="1051560"/>
          </a:xfrm>
          <a:prstGeom prst="roundRect">
            <a:avLst>
              <a:gd name="adj" fmla="val 8000"/>
            </a:avLst>
          </a:prstGeom>
          <a:solidFill>
            <a:srgbClr val="24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1536192"/>
            <a:ext cx="3703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TURKUAZ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1993392"/>
            <a:ext cx="3703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İleri seviye (gönüllü)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651760"/>
            <a:ext cx="324612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C2736"/>
                </a:solidFill>
                <a:latin typeface="Calibri"/>
              </a:rPr>
              <a:t>Atıksuyun en az %20’sini geri kazanın.
Rehber teknikleri + ISO 46001.
ISO 14046 su ayak izi belgesi.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5349240"/>
            <a:ext cx="2697480" cy="384048"/>
          </a:xfrm>
          <a:prstGeom prst="roundRect">
            <a:avLst>
              <a:gd name="adj" fmla="val 50000"/>
            </a:avLst>
          </a:prstGeom>
          <a:solidFill>
            <a:srgbClr val="24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41080" y="5404104"/>
            <a:ext cx="2697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Tamamen gönüllü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565392"/>
            <a:ext cx="8686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87A"/>
                </a:solidFill>
                <a:latin typeface="Calibri"/>
              </a:rPr>
              <a:t>Bira Firmaları için Mavi Su Verimliliği Belgesi  •  Tarım ve Orman Bakanlığı mevzuatı esas alınmıştır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565392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5A687A"/>
                </a:solidFill>
                <a:latin typeface="Calibri"/>
              </a:rP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1078992"/>
          </a:xfrm>
          <a:prstGeom prst="rect">
            <a:avLst/>
          </a:prstGeom>
          <a:solidFill>
            <a:srgbClr val="0A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D6942A"/>
                </a:solidFill>
                <a:latin typeface="Calibri"/>
              </a:rPr>
              <a:t>KAPSAM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38912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Sizin firmanız yükümlü mü, gönüllü mü?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BAD6E6"/>
                </a:solidFill>
                <a:latin typeface="Calibri"/>
              </a:rPr>
              <a:t>NACE 11.05 (Bira imalatı) kılavuzda YÜKÜMLÜ listededir. Asıl eşik çalışan sayısıdır.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" y="1463040"/>
            <a:ext cx="5669280" cy="475488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417320"/>
            <a:ext cx="566928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417320"/>
            <a:ext cx="5669280" cy="640080"/>
          </a:xfrm>
          <a:prstGeom prst="roundRect">
            <a:avLst>
              <a:gd name="adj" fmla="val 8000"/>
            </a:avLst>
          </a:prstGeom>
          <a:solidFill>
            <a:srgbClr val="D64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36192"/>
            <a:ext cx="5669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YÜKÜMLÜ  •  50 ve üzeri çalışan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40280"/>
            <a:ext cx="52578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D64E48"/>
                </a:solidFill>
                <a:latin typeface="Calibri"/>
              </a:rPr>
              <a:t>Kim?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 i="0">
                <a:solidFill>
                  <a:srgbClr val="1C2736"/>
                </a:solidFill>
                <a:latin typeface="Calibri"/>
              </a:rPr>
              <a:t>Sanayi sicil / oda belgesinde NACE 11.05 görünen ve SGK’da 49’dan fazla çalışanı olan bira fabrikaları.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300" b="1" i="0">
                <a:solidFill>
                  <a:srgbClr val="D64E48"/>
                </a:solidFill>
                <a:latin typeface="Calibri"/>
              </a:rPr>
              <a:t>Ne yapılmalı?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 i="0">
                <a:solidFill>
                  <a:srgbClr val="1C2736"/>
                </a:solidFill>
                <a:latin typeface="Calibri"/>
              </a:rPr>
              <a:t>Yönetmelik yayımı itibarıyla 18 ay içinde su verimliliği sistemini kurup Mavi Belge’ye başvurmak.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300" b="1" i="0">
                <a:solidFill>
                  <a:srgbClr val="D64E48"/>
                </a:solidFill>
                <a:latin typeface="Calibri"/>
              </a:rPr>
              <a:t>Sonra?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 i="0">
                <a:solidFill>
                  <a:srgbClr val="1C2736"/>
                </a:solidFill>
                <a:latin typeface="Calibri"/>
              </a:rPr>
              <a:t>En fazla 5 yıl içinde Yeşil Belge (Bakanlık onayıyla 7 yıla uzayabilir). İş termin planı Mavi başvurusunda sunulur.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300" b="1" i="0">
                <a:solidFill>
                  <a:srgbClr val="0A2448"/>
                </a:solidFill>
                <a:latin typeface="Calibri"/>
              </a:rPr>
              <a:t>Örnek: 180 kişilik Anadolu fabrikası → zorunlu.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0216" y="1463040"/>
            <a:ext cx="5532120" cy="475488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1417320"/>
            <a:ext cx="553212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1417320"/>
            <a:ext cx="5532120" cy="640080"/>
          </a:xfrm>
          <a:prstGeom prst="roundRect">
            <a:avLst>
              <a:gd name="adj" fmla="val 8000"/>
            </a:avLst>
          </a:prstGeom>
          <a:solidFill>
            <a:srgbClr val="1A8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536192"/>
            <a:ext cx="5532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GÖNÜLLÜ  •  50’nin altı veya istek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240280"/>
            <a:ext cx="50749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1A8A63"/>
                </a:solidFill>
                <a:latin typeface="Calibri"/>
              </a:rPr>
              <a:t>Kim?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 i="0">
                <a:solidFill>
                  <a:srgbClr val="1C2736"/>
                </a:solidFill>
                <a:latin typeface="Calibri"/>
              </a:rPr>
              <a:t>Aynı NACE’de olup 50’den az çalışanı bulunan mikro / craft biraevleri. Çalışan şartı aranmaz.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300" b="1" i="0">
                <a:solidFill>
                  <a:srgbClr val="1A8A63"/>
                </a:solidFill>
                <a:latin typeface="Calibri"/>
              </a:rPr>
              <a:t>Ne yapılmalı?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 i="0">
                <a:solidFill>
                  <a:srgbClr val="1C2736"/>
                </a:solidFill>
                <a:latin typeface="Calibri"/>
              </a:rPr>
              <a:t>Aynı 7 kriterle sistemi kurup csys.tarimorman.gov.tr üzerinden başvurabilirsiniz. Sıra bekleme yok.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300" b="1" i="0">
                <a:solidFill>
                  <a:srgbClr val="1A8A63"/>
                </a:solidFill>
                <a:latin typeface="Calibri"/>
              </a:rPr>
              <a:t>Avantaj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 i="0">
                <a:solidFill>
                  <a:srgbClr val="1C2736"/>
                </a:solidFill>
                <a:latin typeface="Calibri"/>
              </a:rPr>
              <a:t>Gönüllüler Yeşil veya Turkuaz’a doğrudan gidebilir (sıralı basamak şartı yok). Perakende ve ihracat için itibar sağlar.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300" b="1" i="0">
                <a:solidFill>
                  <a:srgbClr val="0A2448"/>
                </a:solidFill>
                <a:latin typeface="Calibri"/>
              </a:rPr>
              <a:t>Örnek: 22 kişilik Tadım Craft → gönüllü, aynı dosya.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565392"/>
            <a:ext cx="8686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87A"/>
                </a:solidFill>
                <a:latin typeface="Calibri"/>
              </a:rPr>
              <a:t>Bira Firmaları için Mavi Su Verimliliği Belgesi  •  Tarım ve Orman Bakanlığı mevzuatı esas alınmıştır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65392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5A687A"/>
                </a:solidFill>
                <a:latin typeface="Calibri"/>
              </a:rP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1078992"/>
          </a:xfrm>
          <a:prstGeom prst="rect">
            <a:avLst/>
          </a:prstGeom>
          <a:solidFill>
            <a:srgbClr val="0A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D6942A"/>
                </a:solidFill>
                <a:latin typeface="Calibri"/>
              </a:rPr>
              <a:t>YOL HARİTASI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38912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Mavi Belge’nin 7 adımı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BAD6E6"/>
                </a:solidFill>
                <a:latin typeface="Calibri"/>
              </a:rPr>
              <a:t>Ek-3 kriterleri. Hepsi kanıtlanabilir olmalı: atama yazısı, tablo, plan, imza listesi, fotoğraf.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" y="1463040"/>
            <a:ext cx="7635240" cy="603504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417320"/>
            <a:ext cx="763524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" y="1527048"/>
            <a:ext cx="384048" cy="384048"/>
          </a:xfrm>
          <a:prstGeom prst="ellipse">
            <a:avLst/>
          </a:prstGeom>
          <a:solidFill>
            <a:srgbClr val="00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81912"/>
            <a:ext cx="38404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490472"/>
            <a:ext cx="21031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0A2448"/>
                </a:solidFill>
                <a:latin typeface="Calibri"/>
              </a:rPr>
              <a:t>Ekip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490472"/>
            <a:ext cx="45720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5A687A"/>
                </a:solidFill>
                <a:latin typeface="Calibri"/>
              </a:rPr>
              <a:t>Lider + eğitim sorumlusu + teknik destek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" y="2121408"/>
            <a:ext cx="7635240" cy="603504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5760" y="2075688"/>
            <a:ext cx="763524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02920" y="2185416"/>
            <a:ext cx="384048" cy="384048"/>
          </a:xfrm>
          <a:prstGeom prst="ellipse">
            <a:avLst/>
          </a:prstGeom>
          <a:solidFill>
            <a:srgbClr val="24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240280"/>
            <a:ext cx="38404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148840"/>
            <a:ext cx="21031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0A2448"/>
                </a:solidFill>
                <a:latin typeface="Calibri"/>
              </a:rPr>
              <a:t>Mevcut durum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148840"/>
            <a:ext cx="45720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5A687A"/>
                </a:solidFill>
                <a:latin typeface="Calibri"/>
              </a:rPr>
              <a:t>Su-atıksu haritası, spesifik tüketim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36" y="2779776"/>
            <a:ext cx="7635240" cy="603504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5760" y="2734056"/>
            <a:ext cx="763524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02920" y="2843784"/>
            <a:ext cx="384048" cy="384048"/>
          </a:xfrm>
          <a:prstGeom prst="ellipse">
            <a:avLst/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898648"/>
            <a:ext cx="38404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2807208"/>
            <a:ext cx="21031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0A2448"/>
                </a:solidFill>
                <a:latin typeface="Calibri"/>
              </a:rPr>
              <a:t>Hedefler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2807208"/>
            <a:ext cx="45720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5A687A"/>
                </a:solidFill>
                <a:latin typeface="Calibri"/>
              </a:rPr>
              <a:t>5 yıllık, ölçülebilir, yeşile götüren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2336" y="3438144"/>
            <a:ext cx="7635240" cy="603504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65760" y="3392424"/>
            <a:ext cx="763524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02920" y="3502152"/>
            <a:ext cx="384048" cy="384048"/>
          </a:xfrm>
          <a:prstGeom prst="ellipse">
            <a:avLst/>
          </a:prstGeom>
          <a:solidFill>
            <a:srgbClr val="C47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557016"/>
            <a:ext cx="38404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3465576"/>
            <a:ext cx="21031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0A2448"/>
                </a:solidFill>
                <a:latin typeface="Calibri"/>
              </a:rPr>
              <a:t>Plan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3465576"/>
            <a:ext cx="45720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5A687A"/>
                </a:solidFill>
                <a:latin typeface="Calibri"/>
              </a:rPr>
              <a:t>İş termin planı, maliyet, yıl yıl eylem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2336" y="4096511"/>
            <a:ext cx="7635240" cy="603504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65760" y="4050791"/>
            <a:ext cx="763524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02920" y="4160520"/>
            <a:ext cx="384048" cy="384048"/>
          </a:xfrm>
          <a:prstGeom prst="ellipse">
            <a:avLst/>
          </a:prstGeom>
          <a:solidFill>
            <a:srgbClr val="5C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215383"/>
            <a:ext cx="38404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4123944"/>
            <a:ext cx="21031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0A2448"/>
                </a:solidFill>
                <a:latin typeface="Calibri"/>
              </a:rPr>
              <a:t>Eğitim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4123944"/>
            <a:ext cx="45720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5A687A"/>
                </a:solidFill>
                <a:latin typeface="Calibri"/>
              </a:rPr>
              <a:t>Bireysel + sektörel, yılda en az 1’er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02336" y="4754879"/>
            <a:ext cx="7635240" cy="603504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65760" y="4709159"/>
            <a:ext cx="763524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02920" y="4818888"/>
            <a:ext cx="384048" cy="384048"/>
          </a:xfrm>
          <a:prstGeom prst="ellipse">
            <a:avLst/>
          </a:prstGeom>
          <a:solidFill>
            <a:srgbClr val="1A8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4873751"/>
            <a:ext cx="38404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4782312"/>
            <a:ext cx="21031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0A2448"/>
                </a:solidFill>
                <a:latin typeface="Calibri"/>
              </a:rPr>
              <a:t>Ekipman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0" y="4782312"/>
            <a:ext cx="45720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5A687A"/>
                </a:solidFill>
                <a:latin typeface="Calibri"/>
              </a:rPr>
              <a:t>Musluk, rezervuar, perlatör, sensör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02336" y="5413248"/>
            <a:ext cx="7635240" cy="603504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65760" y="5367528"/>
            <a:ext cx="763524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02920" y="5477256"/>
            <a:ext cx="384048" cy="384048"/>
          </a:xfrm>
          <a:prstGeom prst="ellipse">
            <a:avLst/>
          </a:prstGeom>
          <a:solidFill>
            <a:srgbClr val="D64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5532120"/>
            <a:ext cx="38404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" y="5440680"/>
            <a:ext cx="21031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0A2448"/>
                </a:solidFill>
                <a:latin typeface="Calibri"/>
              </a:rPr>
              <a:t>Materyal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0" y="5440680"/>
            <a:ext cx="45720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5A687A"/>
                </a:solidFill>
                <a:latin typeface="Calibri"/>
              </a:rPr>
              <a:t>Afiş, ekran, broşür, saha fotoğrafı</a:t>
            </a:r>
          </a:p>
        </p:txBody>
      </p:sp>
      <p:pic>
        <p:nvPicPr>
          <p:cNvPr id="50" name="Picture 49" descr="te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417320"/>
            <a:ext cx="3611880" cy="470916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365760" y="6565392"/>
            <a:ext cx="8686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87A"/>
                </a:solidFill>
                <a:latin typeface="Calibri"/>
              </a:rPr>
              <a:t>Bira Firmaları için Mavi Su Verimliliği Belgesi  •  Tarım ve Orman Bakanlığı mevzuatı esas alınmıştır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55680" y="6565392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5A687A"/>
                </a:solidFill>
                <a:latin typeface="Calibri"/>
              </a:rP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1078992"/>
          </a:xfrm>
          <a:prstGeom prst="rect">
            <a:avLst/>
          </a:prstGeom>
          <a:solidFill>
            <a:srgbClr val="0A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D6942A"/>
                </a:solidFill>
                <a:latin typeface="Calibri"/>
              </a:rPr>
              <a:t>ADIM 1 VE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38912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Ekibi kurun, suyu görünür kılın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BAD6E6"/>
                </a:solidFill>
                <a:latin typeface="Calibri"/>
              </a:rPr>
              <a:t>Ölçülmeyen su yönetilemez. Bira tesisinde sayaçlar proses bazında konuşmalıdır.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" y="1417320"/>
            <a:ext cx="5806440" cy="233172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371600"/>
            <a:ext cx="58064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81328"/>
            <a:ext cx="5486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0949A"/>
                </a:solidFill>
                <a:latin typeface="Calibri"/>
              </a:rPr>
              <a:t>Adım 1  •  Su verimliliği ekibi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5486400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Kılavuz kuralı: 1 ekip lideri + en az 1 eğitim sorumlusu + en az 1 yardımcı.
Bir kişi en fazla 2 rol alabilir. Lider dışındakiler yalnızca görüntüleyebilir.
Örnek — Ege Malt Bira: lider = üretim müdürü; eğitim = İK;
yardımcı = bakım + AAT. Sistem e-posta ile aktivasyon linki yollar.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91656" y="1417320"/>
            <a:ext cx="5440680" cy="233172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1371600"/>
            <a:ext cx="54406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481328"/>
            <a:ext cx="5074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2478C4"/>
                </a:solidFill>
                <a:latin typeface="Calibri"/>
              </a:rPr>
              <a:t>Adım 2  •  Mevcut durum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828800"/>
            <a:ext cx="5074920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CSYS’de 7 sekme: su (kaynak-kullanım-ücret), GOSK,
peyzaj, eğitim, ekipman, materyal, sürdürülebilirlik.
Örnek kaynak: kuyu 420.000 + şebeke 280.000 m³.
Kütle denkliği: çekilen ≈ kullanılan + kayıp + ürün.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840480"/>
            <a:ext cx="11338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A2448"/>
                </a:solidFill>
                <a:latin typeface="Calibri"/>
              </a:rPr>
              <a:t>Örnek mevcut durum tablosu — Ege Malt Bira, referans yıl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160520"/>
            <a:ext cx="1874519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4279392"/>
            <a:ext cx="1737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D6942A"/>
                </a:solidFill>
                <a:latin typeface="Calibri"/>
              </a:rPr>
              <a:t>Mayşeleme / ürün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4800600"/>
            <a:ext cx="1737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0A2448"/>
                </a:solidFill>
                <a:latin typeface="Calibri"/>
              </a:rPr>
              <a:t>92.000 m³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5303520"/>
            <a:ext cx="1737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5A687A"/>
                </a:solidFill>
                <a:latin typeface="Calibri"/>
              </a:rPr>
              <a:t>1,15 hl/hl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31720" y="4160520"/>
            <a:ext cx="1874519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04872" y="4279392"/>
            <a:ext cx="1737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00949A"/>
                </a:solidFill>
                <a:latin typeface="Calibri"/>
              </a:rPr>
              <a:t>CIP hattı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04872" y="4800600"/>
            <a:ext cx="1737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0A2448"/>
                </a:solidFill>
                <a:latin typeface="Calibri"/>
              </a:rPr>
              <a:t>304.000 m³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04872" y="5303520"/>
            <a:ext cx="1737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5A687A"/>
                </a:solidFill>
                <a:latin typeface="Calibri"/>
              </a:rPr>
              <a:t>3,80 hl/hl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4160520"/>
            <a:ext cx="1874519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70832" y="4279392"/>
            <a:ext cx="1737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2478C4"/>
                </a:solidFill>
                <a:latin typeface="Calibri"/>
              </a:rPr>
              <a:t>Dolum-yıkama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0832" y="4800600"/>
            <a:ext cx="1737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0A2448"/>
                </a:solidFill>
                <a:latin typeface="Calibri"/>
              </a:rPr>
              <a:t>144.000 m³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0832" y="5303520"/>
            <a:ext cx="1737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5A687A"/>
                </a:solidFill>
                <a:latin typeface="Calibri"/>
              </a:rPr>
              <a:t>1,80 hl/hl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4160520"/>
            <a:ext cx="1874519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4279392"/>
            <a:ext cx="1737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5C4EA8"/>
                </a:solidFill>
                <a:latin typeface="Calibri"/>
              </a:rPr>
              <a:t>Soğutma-buhar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4800600"/>
            <a:ext cx="1737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0A2448"/>
                </a:solidFill>
                <a:latin typeface="Calibri"/>
              </a:rPr>
              <a:t>112.000 m³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6792" y="5303520"/>
            <a:ext cx="1737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5A687A"/>
                </a:solidFill>
                <a:latin typeface="Calibri"/>
              </a:rPr>
              <a:t>1,40 hl/hl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4160520"/>
            <a:ext cx="1874519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02752" y="4279392"/>
            <a:ext cx="1737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D64E48"/>
                </a:solidFill>
                <a:latin typeface="Calibri"/>
              </a:rPr>
              <a:t>Sosyal + diğer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4800600"/>
            <a:ext cx="1737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0A2448"/>
                </a:solidFill>
                <a:latin typeface="Calibri"/>
              </a:rPr>
              <a:t>48.000 m³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2752" y="5303520"/>
            <a:ext cx="1737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5A687A"/>
                </a:solidFill>
                <a:latin typeface="Calibri"/>
              </a:rPr>
              <a:t>0,60 hl/hl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95560" y="4160520"/>
            <a:ext cx="1874519" cy="1965960"/>
          </a:xfrm>
          <a:prstGeom prst="roundRect">
            <a:avLst>
              <a:gd name="adj" fmla="val 8000"/>
            </a:avLst>
          </a:prstGeom>
          <a:solidFill>
            <a:srgbClr val="0A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68712" y="4279392"/>
            <a:ext cx="1737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D6942A"/>
                </a:solidFill>
                <a:latin typeface="Calibri"/>
              </a:rPr>
              <a:t>TOPLAM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68712" y="4800600"/>
            <a:ext cx="1737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700.000 m³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68712" y="5303520"/>
            <a:ext cx="1737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C8D6E2"/>
                </a:solidFill>
                <a:latin typeface="Calibri"/>
              </a:rPr>
              <a:t>8,75 hl/hl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565392"/>
            <a:ext cx="8686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87A"/>
                </a:solidFill>
                <a:latin typeface="Calibri"/>
              </a:rPr>
              <a:t>Bira Firmaları için Mavi Su Verimliliği Belgesi  •  Tarım ve Orman Bakanlığı mevzuatı esas alınmıştır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565392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5A687A"/>
                </a:solidFill>
                <a:latin typeface="Calibri"/>
              </a:rP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1078992"/>
          </a:xfrm>
          <a:prstGeom prst="rect">
            <a:avLst/>
          </a:prstGeom>
          <a:solidFill>
            <a:srgbClr val="0A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D6942A"/>
                </a:solidFill>
                <a:latin typeface="Calibri"/>
              </a:rPr>
              <a:t>ADIM 3 VE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38912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Hedefi sayıya, planı takvime bağlayın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BAD6E6"/>
                </a:solidFill>
                <a:latin typeface="Calibri"/>
              </a:rPr>
              <a:t>CSYS’de Hedef Sepeti’nden seçin veya “Diğer” yazın. Her hedefe en az 1 eylem; termin en fazla +5 yıl.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" y="1417320"/>
            <a:ext cx="5806440" cy="480060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371600"/>
            <a:ext cx="580644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5486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D6942A"/>
                </a:solidFill>
                <a:latin typeface="Calibri"/>
              </a:rPr>
              <a:t>Örnek — Ege Malt Bira hedef kaydı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057400"/>
            <a:ext cx="164592" cy="164592"/>
          </a:xfrm>
          <a:prstGeom prst="ellipse">
            <a:avLst/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965960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A2448"/>
                </a:solidFill>
                <a:latin typeface="Calibri"/>
              </a:rPr>
              <a:t>MET ile toplam suyu azalt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221991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0949A"/>
                </a:solidFill>
                <a:latin typeface="Calibri"/>
              </a:rPr>
              <a:t>8,75 → 6,50 hl/hl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78024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A687A"/>
                </a:solidFill>
                <a:latin typeface="Calibri"/>
              </a:rPr>
              <a:t>Sepet hedefi; gösterge m³/yıl veya hl/hl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3017520"/>
            <a:ext cx="164592" cy="164592"/>
          </a:xfrm>
          <a:prstGeom prst="ellipse">
            <a:avLst/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926080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A2448"/>
                </a:solidFill>
                <a:latin typeface="Calibri"/>
              </a:rPr>
              <a:t>Yağmur suyu oranını artır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82112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0949A"/>
                </a:solidFill>
                <a:latin typeface="Calibri"/>
              </a:rPr>
              <a:t>%0 → %4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438144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A687A"/>
                </a:solidFill>
                <a:latin typeface="Calibri"/>
              </a:rPr>
              <a:t>Termin: başvuru + 3 yıl</a:t>
            </a:r>
          </a:p>
        </p:txBody>
      </p:sp>
      <p:sp>
        <p:nvSpPr>
          <p:cNvPr id="19" name="Oval 18"/>
          <p:cNvSpPr/>
          <p:nvPr/>
        </p:nvSpPr>
        <p:spPr>
          <a:xfrm>
            <a:off x="594360" y="3977639"/>
            <a:ext cx="164592" cy="164592"/>
          </a:xfrm>
          <a:prstGeom prst="ellipse">
            <a:avLst/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86200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A2448"/>
                </a:solidFill>
                <a:latin typeface="Calibri"/>
              </a:rPr>
              <a:t>Atıksu geri kazanımını artır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42232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0949A"/>
                </a:solidFill>
                <a:latin typeface="Calibri"/>
              </a:rPr>
              <a:t>%0 → %6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398264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A687A"/>
                </a:solidFill>
                <a:latin typeface="Calibri"/>
              </a:rPr>
              <a:t>AAT çıkışı kasa yıkamada</a:t>
            </a:r>
          </a:p>
        </p:txBody>
      </p:sp>
      <p:sp>
        <p:nvSpPr>
          <p:cNvPr id="23" name="Oval 22"/>
          <p:cNvSpPr/>
          <p:nvPr/>
        </p:nvSpPr>
        <p:spPr>
          <a:xfrm>
            <a:off x="594360" y="4937760"/>
            <a:ext cx="164592" cy="164592"/>
          </a:xfrm>
          <a:prstGeom prst="ellipse">
            <a:avLst/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46320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A2448"/>
                </a:solidFill>
                <a:latin typeface="Calibri"/>
              </a:rPr>
              <a:t>Su kaybını düşür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102352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0949A"/>
                </a:solidFill>
                <a:latin typeface="Calibri"/>
              </a:rPr>
              <a:t>%9 → %5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358384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A687A"/>
                </a:solidFill>
                <a:latin typeface="Calibri"/>
              </a:rPr>
              <a:t>Kılavuz örneği: çekim − kullanım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91656" y="1417320"/>
            <a:ext cx="5440680" cy="480060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55080" y="1371600"/>
            <a:ext cx="544068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1508760"/>
            <a:ext cx="5074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2478C4"/>
                </a:solidFill>
                <a:latin typeface="Calibri"/>
              </a:rPr>
              <a:t>Her hedefe bağlı eylem (zorunlu)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7960" y="193852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00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1965960"/>
            <a:ext cx="9601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Yıl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1938528"/>
            <a:ext cx="3063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C2736"/>
                </a:solidFill>
                <a:latin typeface="Calibri"/>
              </a:rPr>
              <a:t>CIP darbe durulama SOP + sayaç ağı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2322576"/>
            <a:ext cx="3063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5A687A"/>
                </a:solidFill>
                <a:latin typeface="Calibri"/>
              </a:rPr>
              <a:t>Maliyet: 1,2 M TL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37960" y="271576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00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2743200"/>
            <a:ext cx="9601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Yıl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2715768"/>
            <a:ext cx="3063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C2736"/>
                </a:solidFill>
                <a:latin typeface="Calibri"/>
              </a:rPr>
              <a:t>Şıra soğutma sıcak su tankı 40 m³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3099816"/>
            <a:ext cx="3063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5A687A"/>
                </a:solidFill>
                <a:latin typeface="Calibri"/>
              </a:rPr>
              <a:t>Maliyet: 2,4 M TL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37960" y="349300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00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3520440"/>
            <a:ext cx="9601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Yıl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3493008"/>
            <a:ext cx="3063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C2736"/>
                </a:solidFill>
                <a:latin typeface="Calibri"/>
              </a:rPr>
              <a:t>Çatı yağmur hasadı 250 m³ depo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3877056"/>
            <a:ext cx="3063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5A687A"/>
                </a:solidFill>
                <a:latin typeface="Calibri"/>
              </a:rPr>
              <a:t>Maliyet: 1,8 M TL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37960" y="427024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00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4297680"/>
            <a:ext cx="9601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Yıl 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20" y="4270248"/>
            <a:ext cx="3063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C2736"/>
                </a:solidFill>
                <a:latin typeface="Calibri"/>
              </a:rPr>
              <a:t>AAT çıkışını kasa yıkamaya bağla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20" y="4654296"/>
            <a:ext cx="3063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5A687A"/>
                </a:solidFill>
                <a:latin typeface="Calibri"/>
              </a:rPr>
              <a:t>Maliyet: 3,1 M TL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37960" y="504748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37960" y="5074920"/>
            <a:ext cx="9601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Yıl 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20" y="5047488"/>
            <a:ext cx="3063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C2736"/>
                </a:solidFill>
                <a:latin typeface="Calibri"/>
              </a:rPr>
              <a:t>Yeşil belge dosyası + ISO 46001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89520" y="5431536"/>
            <a:ext cx="3063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5A687A"/>
                </a:solidFill>
                <a:latin typeface="Calibri"/>
              </a:rPr>
              <a:t>Maliyet: 0,4 M TL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565392"/>
            <a:ext cx="8686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87A"/>
                </a:solidFill>
                <a:latin typeface="Calibri"/>
              </a:rPr>
              <a:t>Bira Firmaları için Mavi Su Verimliliği Belgesi  •  Tarım ve Orman Bakanlığı mevzuatı esas alınmıştır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55680" y="6565392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5A687A"/>
                </a:solidFill>
                <a:latin typeface="Calibri"/>
              </a:rP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1078992"/>
          </a:xfrm>
          <a:prstGeom prst="rect">
            <a:avLst/>
          </a:prstGeom>
          <a:solidFill>
            <a:srgbClr val="0A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D6942A"/>
                </a:solidFill>
                <a:latin typeface="Calibri"/>
              </a:rPr>
              <a:t>ADIM 5, 6 VE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38912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İnsan, armatür ve görünür hatırlatıcılar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BAD6E6"/>
                </a:solidFill>
                <a:latin typeface="Calibri"/>
              </a:rPr>
              <a:t>Mavi belge “sadece makine” değildir. Eğitim, musluk ve afiş de dosyanın parçasıdır.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5" y="1417320"/>
            <a:ext cx="3794760" cy="480060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0040" y="1371600"/>
            <a:ext cx="379476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r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3520440" cy="1691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3291840"/>
            <a:ext cx="3429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0949A"/>
                </a:solidFill>
                <a:latin typeface="Calibri"/>
              </a:rPr>
              <a:t>5  Eğitim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657600"/>
            <a:ext cx="34290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C2736"/>
                </a:solidFill>
                <a:latin typeface="Calibri"/>
              </a:rPr>
              <a:t>Başvurudan önce en az 1 bireysel + 1 sektörel eğitim.
Bireysel: suverimliligi.gov.tr videosu; tüm personel 5 yılda tamamlanır.
Sektörel: NACE 11.05 rehberi, lisans + 3 yıl deneyimli eğitmen.
Kanıt: imza listesi, tutanak, foto — 5 yıl saklanır.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8536" y="1417320"/>
            <a:ext cx="3794760" cy="480060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51959" y="1371600"/>
            <a:ext cx="379476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ix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508760"/>
            <a:ext cx="3520440" cy="16916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434840" y="3291840"/>
            <a:ext cx="3429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A8A63"/>
                </a:solidFill>
                <a:latin typeface="Calibri"/>
              </a:rPr>
              <a:t>6  Su verimli ekipman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657600"/>
            <a:ext cx="34290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C2736"/>
                </a:solidFill>
                <a:latin typeface="Calibri"/>
              </a:rPr>
              <a:t>Kapsam bireysel kullanım: musluk, duş, rezervuar, perlatör, sensör.
Örnek: 42 lavaboya 6 L/dk perlatör, 18 tuvalete 6/3 L rezervuar.
Sosyal su ~%30 düşer. Değişim 5 yıllık planda yazılır.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0455" y="1417320"/>
            <a:ext cx="3794760" cy="480060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83879" y="1371600"/>
            <a:ext cx="379476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oster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508760"/>
            <a:ext cx="3520440" cy="16916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66759" y="3291840"/>
            <a:ext cx="3429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D6942A"/>
                </a:solidFill>
                <a:latin typeface="Calibri"/>
              </a:rPr>
              <a:t>7  Yazılı-görsel materyal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3657600"/>
            <a:ext cx="34290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C2736"/>
                </a:solidFill>
                <a:latin typeface="Calibri"/>
              </a:rPr>
              <a:t>Afiş, broşür, infobox, kantin ekranı, CIP odası talimatı.
Örnek: “Hortumu açık bırakma — 1 dk = 15 L”, “Son durulama tanka döner”.
Kanıt: basılı örnek + saha fotoğrafı. Plan dönemine yeni materyal de eklenir.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565392"/>
            <a:ext cx="8686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87A"/>
                </a:solidFill>
                <a:latin typeface="Calibri"/>
              </a:rPr>
              <a:t>Bira Firmaları için Mavi Su Verimliliği Belgesi  •  Tarım ve Orman Bakanlığı mevzuatı esas alınmıştır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565392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5A687A"/>
                </a:solidFill>
                <a:latin typeface="Calibri"/>
              </a:rP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1078992"/>
          </a:xfrm>
          <a:prstGeom prst="rect">
            <a:avLst/>
          </a:prstGeom>
          <a:solidFill>
            <a:srgbClr val="0A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D6942A"/>
                </a:solidFill>
                <a:latin typeface="Calibri"/>
              </a:rPr>
              <a:t>SAHA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38912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Bira tesisinde suyu nerede kurtarırsınız?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BAD6E6"/>
                </a:solidFill>
                <a:latin typeface="Calibri"/>
              </a:rPr>
              <a:t>Bakanlık NACE 11.05 rehberi: sektöre özgü, iyi yönetim ve genel MET’ler. Kazanım potansiyeli %23–40.</a:t>
            </a:r>
          </a:p>
        </p:txBody>
      </p:sp>
      <p:pic>
        <p:nvPicPr>
          <p:cNvPr id="8" name="Picture 7" descr="fl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5852160" cy="29260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91656" y="1417320"/>
            <a:ext cx="2697480" cy="1481328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55080" y="1371600"/>
            <a:ext cx="269748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81328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0949A"/>
                </a:solidFill>
                <a:latin typeface="Calibri"/>
              </a:rPr>
              <a:t>Şıra soğutma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47088"/>
            <a:ext cx="24231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C2736"/>
                </a:solidFill>
                <a:latin typeface="Calibri"/>
              </a:rPr>
              <a:t>Isınan suyu yalıtımlı tankta tutup mayşeleme / CIP ön ısıtmada kullanın.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26296" y="1417320"/>
            <a:ext cx="2697480" cy="1481328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89720" y="1371600"/>
            <a:ext cx="269748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1481328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0949A"/>
                </a:solidFill>
                <a:latin typeface="Calibri"/>
              </a:rPr>
              <a:t>Lautering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1847088"/>
            <a:ext cx="24231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C2736"/>
                </a:solidFill>
                <a:latin typeface="Calibri"/>
              </a:rPr>
              <a:t>Süzme çıkış sularını bir sonraki mayşede değerlendirebilirsiniz.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91656" y="3017520"/>
            <a:ext cx="2697480" cy="1481328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55080" y="2971800"/>
            <a:ext cx="269748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081528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0949A"/>
                </a:solidFill>
                <a:latin typeface="Calibri"/>
              </a:rPr>
              <a:t>Pastörizatör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447288"/>
            <a:ext cx="24231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C2736"/>
                </a:solidFill>
                <a:latin typeface="Calibri"/>
              </a:rPr>
              <a:t>Taşan ve drene olan suyu toplayıp tekrar pastörizatöre verin.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26296" y="3017520"/>
            <a:ext cx="2697480" cy="1481328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9720" y="2971800"/>
            <a:ext cx="269748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3081528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0949A"/>
                </a:solidFill>
                <a:latin typeface="Calibri"/>
              </a:rPr>
              <a:t>CIP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447288"/>
            <a:ext cx="24231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C2736"/>
                </a:solidFill>
                <a:latin typeface="Calibri"/>
              </a:rPr>
              <a:t>Darbe durulama, son durulamanın ilk durulama olması, iletkenlik kontrollü kesim.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91656" y="4617720"/>
            <a:ext cx="2697480" cy="1481328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572000"/>
            <a:ext cx="269748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681728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0949A"/>
                </a:solidFill>
                <a:latin typeface="Calibri"/>
              </a:rPr>
              <a:t>Kapalı soğutma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047488"/>
            <a:ext cx="24231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C2736"/>
                </a:solidFill>
                <a:latin typeface="Calibri"/>
              </a:rPr>
              <a:t>Açık kule yerine kapalı çevrim; blowdown’u kasa yıkamada kullanın.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26296" y="4617720"/>
            <a:ext cx="2697480" cy="1481328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89720" y="4572000"/>
            <a:ext cx="269748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0" y="4681728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0949A"/>
                </a:solidFill>
                <a:latin typeface="Calibri"/>
              </a:rPr>
              <a:t>Yağmur / AAT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5047488"/>
            <a:ext cx="24231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C2736"/>
                </a:solidFill>
                <a:latin typeface="Calibri"/>
              </a:rPr>
              <a:t>Çatı hasadı + arıtılmış su: zemin, kasa, yeşil alan, soğutma makyajı.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434840"/>
            <a:ext cx="5760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A2448"/>
                </a:solidFill>
                <a:latin typeface="Calibri"/>
              </a:rPr>
              <a:t>Su, malt’tan doluma kadar her kadehte görünür olmalı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4754880"/>
            <a:ext cx="57607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5A687A"/>
                </a:solidFill>
                <a:latin typeface="Calibri"/>
              </a:rPr>
              <a:t>Örnek kural: içme suyu kalitesindeki şebeke suyunu yer yıkamada kullanmayın. Temiz durulama suyu ile kirli CIP kostikini asla aynı hatta karıştırmayın. Her geri kullanımın gıda güvenliği onayı kalite biriminden geçsin.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565392"/>
            <a:ext cx="8686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87A"/>
                </a:solidFill>
                <a:latin typeface="Calibri"/>
              </a:rPr>
              <a:t>Bira Firmaları için Mavi Su Verimliliği Belgesi  •  Tarım ve Orman Bakanlığı mevzuatı esas alınmıştır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565392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5A687A"/>
                </a:solidFill>
                <a:latin typeface="Calibri"/>
              </a:rP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1078992"/>
          </a:xfrm>
          <a:prstGeom prst="rect">
            <a:avLst/>
          </a:prstGeom>
          <a:solidFill>
            <a:srgbClr val="0A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D6942A"/>
                </a:solidFill>
                <a:latin typeface="Calibri"/>
              </a:rPr>
              <a:t>ÜÇ CANLI ÖRNEK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38912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Aynı belgede üç farklı kazanç hikâyesi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BAD6E6"/>
                </a:solidFill>
                <a:latin typeface="Calibri"/>
              </a:rPr>
              <a:t>Rakamlar öğretici senaryolardır; kendi sayaç verinizle yeniden hesaplayın.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5" y="1417320"/>
            <a:ext cx="3794760" cy="480060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0040" y="1371600"/>
            <a:ext cx="379476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481328"/>
            <a:ext cx="3575304" cy="15544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29768" y="3035808"/>
            <a:ext cx="3575304" cy="73152"/>
          </a:xfrm>
          <a:prstGeom prst="rect">
            <a:avLst/>
          </a:prstGeom>
          <a:solidFill>
            <a:srgbClr val="00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182112"/>
            <a:ext cx="3429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0949A"/>
                </a:solidFill>
                <a:latin typeface="Calibri"/>
              </a:rPr>
              <a:t>CIP’i kısaltmak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84448"/>
            <a:ext cx="3429000" cy="2331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C2736"/>
                </a:solidFill>
                <a:latin typeface="Calibri"/>
              </a:rPr>
              <a:t>Durum: 80 dakikalık sürekli durulama, iletkenlik yok.
İş: 4x20 sn darbe + iletkenlik kesimi; son durulama bir sonraki pre-rinse.
Sonuç: durulama suyu ~%50, tesis toplamı ~%7 düşer.
Belgeye: SOP, önce-sonra sayaç, eğitim tutanağı.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1417320"/>
            <a:ext cx="3794760" cy="480060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51959" y="1371600"/>
            <a:ext cx="379476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wor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8" y="1481328"/>
            <a:ext cx="3575304" cy="155448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361688" y="3035808"/>
            <a:ext cx="3575304" cy="73152"/>
          </a:xfrm>
          <a:prstGeom prst="rect">
            <a:avLst/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3182112"/>
            <a:ext cx="3429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D6942A"/>
                </a:solidFill>
                <a:latin typeface="Calibri"/>
              </a:rPr>
              <a:t>Şıra soğutma ısısı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584448"/>
            <a:ext cx="3429000" cy="2331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C2736"/>
                </a:solidFill>
                <a:latin typeface="Calibri"/>
              </a:rPr>
              <a:t>Durum: plakalı eşanjörden 80 °C su gideri.
İş: 40 m³ yalıtımlı tank + mayşeleme beslemesi.
Sonuç: örnek tesiste ~122.000 m³/yıl taze su ve enerji tasarrufu sınıfı kazanç.
Belgeye: P&amp;ID, tank fotoğrafı, aylık m³.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0455" y="1417320"/>
            <a:ext cx="3794760" cy="480060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83879" y="1371600"/>
            <a:ext cx="379476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rai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607" y="1481328"/>
            <a:ext cx="3575304" cy="155448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8293607" y="3035808"/>
            <a:ext cx="3575304" cy="73152"/>
          </a:xfrm>
          <a:prstGeom prst="rect">
            <a:avLst/>
          </a:prstGeom>
          <a:solidFill>
            <a:srgbClr val="24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59" y="3182112"/>
            <a:ext cx="3429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2478C4"/>
                </a:solidFill>
                <a:latin typeface="Calibri"/>
              </a:rPr>
              <a:t>Yağmur + AAT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59" y="3584448"/>
            <a:ext cx="3429000" cy="2331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C2736"/>
                </a:solidFill>
                <a:latin typeface="Calibri"/>
              </a:rPr>
              <a:t>Durum: 12.000 m² çatı, yazın bahçe + kasa yıkama şebeke suyu.
İş: 250 m³ depo, kaba filtre; AAT çıkışı kasa hattına.
Sonuç: 3. yıl sonunda alternatif su ~%10 — yeşil eşiğe hazırlık.
Belgeye: debi, analiz, kullanım noktası listesi.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565392"/>
            <a:ext cx="8686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87A"/>
                </a:solidFill>
                <a:latin typeface="Calibri"/>
              </a:rPr>
              <a:t>Bira Firmaları için Mavi Su Verimliliği Belgesi  •  Tarım ve Orman Bakanlığı mevzuatı esas alınmıştır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565392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5A687A"/>
                </a:solidFill>
                <a:latin typeface="Calibri"/>
              </a:rP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1078992"/>
          </a:xfrm>
          <a:prstGeom prst="rect">
            <a:avLst/>
          </a:prstGeom>
          <a:solidFill>
            <a:srgbClr val="0A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D6942A"/>
                </a:solidFill>
                <a:latin typeface="Calibri"/>
              </a:rPr>
              <a:t>İKİ FİRMA, AYNI 7 ADIM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38912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Büyük fabrika ve craft biraevi nasıl ilerler?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BAD6E6"/>
                </a:solidFill>
                <a:latin typeface="Calibri"/>
              </a:rPr>
              <a:t>Ölçek değişir, kriter değişmez. Dosya tesis bazındadır: ayrı lokasyon = ayrı başvuru.</a:t>
            </a:r>
          </a:p>
        </p:txBody>
      </p:sp>
      <p:pic>
        <p:nvPicPr>
          <p:cNvPr id="8" name="Picture 7" descr="p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3794760" cy="2240280"/>
          </a:xfrm>
          <a:prstGeom prst="rect">
            <a:avLst/>
          </a:prstGeom>
        </p:spPr>
      </p:pic>
      <p:pic>
        <p:nvPicPr>
          <p:cNvPr id="9" name="Picture 8" descr="cra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794760"/>
            <a:ext cx="3794760" cy="2331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379976" y="1417320"/>
            <a:ext cx="7452360" cy="224028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371600"/>
            <a:ext cx="745236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481328"/>
            <a:ext cx="7132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D64E48"/>
                </a:solidFill>
                <a:latin typeface="Calibri"/>
              </a:rPr>
              <a:t>Ege Malt Bira A.Ş.  •  180 çalışan  •  YÜKÜMLÜ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74519"/>
            <a:ext cx="713232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18 ay içinde sistemi kurup önce yetki, sonra Mavi belge başvurusu yapar. CSYS’ye 4’lü NACE 11.05 + 6’lı kod, ürün (hl), 6 zorunlu evrak ve 5 yıllık hedef-eylem girer. OSB içinde olsa bile kendi belgesini alır. İki fabrika varsa iki yetki, iki belge.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3840480"/>
            <a:ext cx="7452360" cy="233172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43400" y="3794760"/>
            <a:ext cx="745236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904487"/>
            <a:ext cx="7132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A8A63"/>
                </a:solidFill>
                <a:latin typeface="Calibri"/>
              </a:rPr>
              <a:t>Tadım Craft  •  22 çalışan  •  GÖNÜLLÜ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4297680"/>
            <a:ext cx="713232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Zorunluluk yok; aynı CSYS formu. 3 kişilik ekip (lider+eğitim+yardımcı), 1 proses sayacı + fatura, hedef sepetinden “MET ile suyu azalt: 10 → 7 hl/hl”, hortum tabancası ve perlatör fotoğrafı. Yetki onayı yine şart. Yeşile atlamak isterse sıralı beklemez.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565392"/>
            <a:ext cx="8686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87A"/>
                </a:solidFill>
                <a:latin typeface="Calibri"/>
              </a:rPr>
              <a:t>Bira Firmaları için Mavi Su Verimliliği Belgesi  •  Tarım ve Orman Bakanlığı mevzuatı esas alınmıştır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65392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5A687A"/>
                </a:solidFill>
                <a:latin typeface="Calibri"/>
              </a:rP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1078992"/>
          </a:xfrm>
          <a:prstGeom prst="rect">
            <a:avLst/>
          </a:prstGeom>
          <a:solidFill>
            <a:srgbClr val="0A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D6942A"/>
                </a:solidFill>
                <a:latin typeface="Calibri"/>
              </a:rPr>
              <a:t>DİJİTAL SÜREÇ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38912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Önce yetki, sonra belge — yalnızca CSYS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BAD6E6"/>
                </a:solidFill>
                <a:latin typeface="Calibri"/>
              </a:rPr>
              <a:t>Kılavuz 3.1.1.1  •  csys.tarimorman.gov.tr  •  e-Devlet vatandaş girişi  •  kargo/e-posta kabul edilmez</a:t>
            </a:r>
          </a:p>
        </p:txBody>
      </p:sp>
      <p:pic>
        <p:nvPicPr>
          <p:cNvPr id="8" name="Picture 7" descr="ce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353312"/>
            <a:ext cx="3383280" cy="23317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02336" y="1399032"/>
            <a:ext cx="7818120" cy="233172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353312"/>
            <a:ext cx="78181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48132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517904"/>
            <a:ext cx="14173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0A2448"/>
                </a:solidFill>
                <a:latin typeface="Calibri"/>
              </a:rPr>
              <a:t>A. YETKİ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1481328"/>
            <a:ext cx="5943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Üç unsur bağlanır: tüzel kişilik + fiziki tesis/fabrika + yetkili kişi. Onay e-postası gelmeden belge ekranı açılmaz.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24028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0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276856"/>
            <a:ext cx="14173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B. BELGE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2212848"/>
            <a:ext cx="5943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5 bölüm sırayla yeşile döner: 1) başvuru sahibi (genel + 4’lü/6’lı NACE üretim + evrak)  2) ekip  3) mevcut durum  4) hedefler-eylemler  5) PDF kabul + Başvuruyu Gönder. Kaydet deyip çıkabilirsiniz; kaldığınız yerden devam edilir.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" y="3886200"/>
            <a:ext cx="3749039" cy="1115568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5760" y="3840480"/>
            <a:ext cx="3749039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3776" y="4169664"/>
            <a:ext cx="384048" cy="384048"/>
          </a:xfrm>
          <a:prstGeom prst="ellipse">
            <a:avLst/>
          </a:prstGeom>
          <a:solidFill>
            <a:srgbClr val="00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" y="4233672"/>
            <a:ext cx="38404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4005072"/>
            <a:ext cx="2971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A2448"/>
                </a:solidFill>
                <a:latin typeface="Calibri"/>
              </a:rPr>
              <a:t>SGK çalışan sayısı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4370832"/>
            <a:ext cx="2971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A687A"/>
                </a:solidFill>
                <a:latin typeface="Calibri"/>
              </a:rPr>
              <a:t>Başvuru yılı tahakkuk / barkodlu nüsha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88536" y="3886200"/>
            <a:ext cx="3749039" cy="1115568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51960" y="3840480"/>
            <a:ext cx="3749039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79976" y="4169664"/>
            <a:ext cx="384048" cy="384048"/>
          </a:xfrm>
          <a:prstGeom prst="ellipse">
            <a:avLst/>
          </a:prstGeom>
          <a:solidFill>
            <a:srgbClr val="00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79976" y="4233672"/>
            <a:ext cx="38404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73752" y="4005072"/>
            <a:ext cx="2971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A2448"/>
                </a:solidFill>
                <a:latin typeface="Calibri"/>
              </a:rPr>
              <a:t>Oda faaliyet belgesi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3752" y="4370832"/>
            <a:ext cx="2971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A687A"/>
                </a:solidFill>
                <a:latin typeface="Calibri"/>
              </a:rPr>
              <a:t>Son 1 yıl, unvan-adres-üretim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74736" y="3886200"/>
            <a:ext cx="3749039" cy="1115568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38160" y="3840480"/>
            <a:ext cx="3749039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66176" y="4169664"/>
            <a:ext cx="384048" cy="384048"/>
          </a:xfrm>
          <a:prstGeom prst="ellipse">
            <a:avLst/>
          </a:prstGeom>
          <a:solidFill>
            <a:srgbClr val="00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66176" y="4233672"/>
            <a:ext cx="38404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59952" y="4005072"/>
            <a:ext cx="2971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A2448"/>
                </a:solidFill>
                <a:latin typeface="Calibri"/>
              </a:rPr>
              <a:t>Kapasite raporu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59952" y="4370832"/>
            <a:ext cx="2971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A687A"/>
                </a:solidFill>
                <a:latin typeface="Calibri"/>
              </a:rPr>
              <a:t>Geçerli; NACE 11.05 yazmalı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02336" y="5120640"/>
            <a:ext cx="3749039" cy="1115568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65760" y="5074920"/>
            <a:ext cx="3749039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93776" y="5404104"/>
            <a:ext cx="384048" cy="384048"/>
          </a:xfrm>
          <a:prstGeom prst="ellipse">
            <a:avLst/>
          </a:prstGeom>
          <a:solidFill>
            <a:srgbClr val="00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" y="5468112"/>
            <a:ext cx="38404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" y="5239512"/>
            <a:ext cx="2971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A2448"/>
                </a:solidFill>
                <a:latin typeface="Calibri"/>
              </a:rPr>
              <a:t>Sanayi sicil belgesi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" y="5605272"/>
            <a:ext cx="2971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A687A"/>
                </a:solidFill>
                <a:latin typeface="Calibri"/>
              </a:rPr>
              <a:t>Güncel; unvan-adres-faaliyet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88536" y="5120640"/>
            <a:ext cx="3749039" cy="1115568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251960" y="5074920"/>
            <a:ext cx="3749039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79976" y="5404104"/>
            <a:ext cx="384048" cy="384048"/>
          </a:xfrm>
          <a:prstGeom prst="ellipse">
            <a:avLst/>
          </a:prstGeom>
          <a:solidFill>
            <a:srgbClr val="00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79976" y="5468112"/>
            <a:ext cx="38404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73752" y="5239512"/>
            <a:ext cx="2971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A2448"/>
                </a:solidFill>
                <a:latin typeface="Calibri"/>
              </a:rPr>
              <a:t>Ticaret sicil gazetesi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73752" y="5605272"/>
            <a:ext cx="2971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A687A"/>
                </a:solidFill>
                <a:latin typeface="Calibri"/>
              </a:rPr>
              <a:t>Şube ise şube bilgisi şart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74736" y="5120640"/>
            <a:ext cx="3749039" cy="1115568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138160" y="5074920"/>
            <a:ext cx="3749039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266176" y="5404104"/>
            <a:ext cx="384048" cy="384048"/>
          </a:xfrm>
          <a:prstGeom prst="ellipse">
            <a:avLst/>
          </a:prstGeom>
          <a:solidFill>
            <a:srgbClr val="00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66176" y="5468112"/>
            <a:ext cx="38404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59952" y="5239512"/>
            <a:ext cx="2971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A2448"/>
                </a:solidFill>
                <a:latin typeface="Calibri"/>
              </a:rPr>
              <a:t>Çevre izin / muafiyet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59952" y="5605272"/>
            <a:ext cx="2971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A687A"/>
                </a:solidFill>
                <a:latin typeface="Calibri"/>
              </a:rPr>
              <a:t>Güncel izin veya resmi muafiyet yazısı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6565392"/>
            <a:ext cx="8686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87A"/>
                </a:solidFill>
                <a:latin typeface="Calibri"/>
              </a:rPr>
              <a:t>Bira Firmaları için Mavi Su Verimliliği Belgesi  •  Tarım ve Orman Bakanlığı mevzuatı esas alınmıştır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55680" y="6565392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5A687A"/>
                </a:solidFill>
                <a:latin typeface="Calibri"/>
              </a:rP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1078992"/>
          </a:xfrm>
          <a:prstGeom prst="rect">
            <a:avLst/>
          </a:prstGeom>
          <a:solidFill>
            <a:srgbClr val="0A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D6942A"/>
                </a:solidFill>
                <a:latin typeface="Calibri"/>
              </a:rPr>
              <a:t>KAPANIŞ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38912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Başvuru öncesi 12 maddelik kontrol listesi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BAD6E6"/>
                </a:solidFill>
                <a:latin typeface="Calibri"/>
              </a:rPr>
              <a:t>Hepsi “evet” ise CSYS dosyanız olgun demektir. Dosya ≤15 MB; pdf / jpg / png / tiff.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" y="1399032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353312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" y="1517904"/>
            <a:ext cx="347472" cy="347472"/>
          </a:xfrm>
          <a:prstGeom prst="ellipse">
            <a:avLst/>
          </a:prstGeom>
          <a:solidFill>
            <a:srgbClr val="00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72768"/>
            <a:ext cx="3474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463040"/>
            <a:ext cx="4937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NACE 11.05 (ve 6’lı kod + ürün hl) fiili üretimle uyumlu.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0216" y="1399032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1353312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0" y="1517904"/>
            <a:ext cx="347472" cy="347472"/>
          </a:xfrm>
          <a:prstGeom prst="ellipse">
            <a:avLst/>
          </a:prstGeom>
          <a:solidFill>
            <a:srgbClr val="24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72768"/>
            <a:ext cx="3474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463040"/>
            <a:ext cx="4937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SGK: başvuru yılı. 49’dan fazla çalışan = yükümlü.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" y="2176272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5760" y="2130552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920" y="2295144"/>
            <a:ext cx="347472" cy="347472"/>
          </a:xfrm>
          <a:prstGeom prst="ellipse">
            <a:avLst/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350008"/>
            <a:ext cx="3474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2240280"/>
            <a:ext cx="4937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Yetki onayı alınmış: tüzel kişi + tesis + yetkili eşleşiyor.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0216" y="2176272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63640" y="2130552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0800" y="2295144"/>
            <a:ext cx="347472" cy="347472"/>
          </a:xfrm>
          <a:prstGeom prst="ellipse">
            <a:avLst/>
          </a:prstGeom>
          <a:solidFill>
            <a:srgbClr val="5C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350008"/>
            <a:ext cx="3474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240280"/>
            <a:ext cx="4937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Ekip: 1 lider + ≥1 eğitim + ≥1 yardımcı; kişi başı en fazla 2 rol.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2336" y="2953511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65760" y="2907791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2920" y="3072384"/>
            <a:ext cx="347472" cy="347472"/>
          </a:xfrm>
          <a:prstGeom prst="ellipse">
            <a:avLst/>
          </a:prstGeom>
          <a:solidFill>
            <a:srgbClr val="1A8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127248"/>
            <a:ext cx="3474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3017520"/>
            <a:ext cx="4937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Mevcut durum 7 sekmesi ve su kütle denkliği dolu.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0216" y="2953511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63640" y="2907791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0800" y="3072384"/>
            <a:ext cx="347472" cy="347472"/>
          </a:xfrm>
          <a:prstGeom prst="ellipse">
            <a:avLst/>
          </a:prstGeom>
          <a:solidFill>
            <a:srgbClr val="D64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127248"/>
            <a:ext cx="3474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3017520"/>
            <a:ext cx="4937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Hedef sepeti + her hedefe ≥1 eylem + 5 yıl termin + maliyet.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02336" y="3730751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65760" y="3685031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02920" y="3849623"/>
            <a:ext cx="347472" cy="347472"/>
          </a:xfrm>
          <a:prstGeom prst="ellipse">
            <a:avLst/>
          </a:prstGeom>
          <a:solidFill>
            <a:srgbClr val="00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3904487"/>
            <a:ext cx="3474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3794759"/>
            <a:ext cx="4937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En az 1 bireysel + 1 sektörel eğitim; imza listesi yüklü.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0216" y="3730751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263640" y="3685031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00800" y="3849623"/>
            <a:ext cx="347472" cy="347472"/>
          </a:xfrm>
          <a:prstGeom prst="ellipse">
            <a:avLst/>
          </a:prstGeom>
          <a:solidFill>
            <a:srgbClr val="24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3904487"/>
            <a:ext cx="3474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3794759"/>
            <a:ext cx="4937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Musluk-rezervuar-perlatör ve afiş fotoğrafları sistemde.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02336" y="4507992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65760" y="4462272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02920" y="4626864"/>
            <a:ext cx="347472" cy="347472"/>
          </a:xfrm>
          <a:prstGeom prst="ellipse">
            <a:avLst/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4681728"/>
            <a:ext cx="3474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" y="4572000"/>
            <a:ext cx="4937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6 zorunlu evrak: SGK, oda, kapasite, sicil, gazete, çevre izin.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00216" y="4507992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263640" y="4462272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400800" y="4626864"/>
            <a:ext cx="347472" cy="347472"/>
          </a:xfrm>
          <a:prstGeom prst="ellipse">
            <a:avLst/>
          </a:prstGeom>
          <a:solidFill>
            <a:srgbClr val="5C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4681728"/>
            <a:ext cx="3474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0" y="4572000"/>
            <a:ext cx="4937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Ayrı fabrikalar için ayrı yetki / ayrı belge düşünüldü.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02336" y="5285232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365760" y="5239512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02920" y="5404104"/>
            <a:ext cx="347472" cy="347472"/>
          </a:xfrm>
          <a:prstGeom prst="ellipse">
            <a:avLst/>
          </a:prstGeom>
          <a:solidFill>
            <a:srgbClr val="1A8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920" y="5458968"/>
            <a:ext cx="3474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0120" y="5349240"/>
            <a:ext cx="4937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PDF önizleme kabul edildi; “verilerin doğruluğunu taahhüt”.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300216" y="5285232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263640" y="5239512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400800" y="5404104"/>
            <a:ext cx="347472" cy="347472"/>
          </a:xfrm>
          <a:prstGeom prst="ellipse">
            <a:avLst/>
          </a:prstGeom>
          <a:solidFill>
            <a:srgbClr val="D64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0" y="5458968"/>
            <a:ext cx="3474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0" y="5349240"/>
            <a:ext cx="4937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Statü: incelemede geri alınmaz. 2. revize = red; 60 gün kuralı.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5760" y="6547104"/>
            <a:ext cx="10241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87A"/>
                </a:solidFill>
                <a:latin typeface="Calibri"/>
              </a:rPr>
              <a:t>Kaynak: Mavi Belge Başvuru Kılavuzu 3.1.1.1  •  Su Verimliliği Yönetmeliği (RG 27.12.2024/32765)  •  NACE 11.05 Rehberi  •  csys.tarimorman.gov.tr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155680" y="6547104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5A687A"/>
                </a:solidFill>
                <a:latin typeface="Calibri"/>
              </a:rP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
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120640" cy="347472"/>
          </a:xfrm>
          <a:prstGeom prst="roundRect">
            <a:avLst>
              <a:gd name="adj" fmla="val 50000"/>
            </a:avLst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0A2448"/>
                </a:solidFill>
                <a:latin typeface="Calibri"/>
              </a:rPr>
              <a:t>MAVİ SU BELGESİ  •  NE YAPACAĞIZ?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7680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Suyu boşa akıtmayın.
Belgeyi alın.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713232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2E4EE"/>
                </a:solidFill>
                <a:latin typeface="Calibri"/>
              </a:rPr>
              <a:t>Bu sunum kafa karıştırmadan anlatır: tesisinizde hangi musluk,
hangi sifon, hangi hortum değişecek — ve belgeye nasıl yazılacak.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091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Somut örnekler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47091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47548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Görsellerle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7091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47548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Kısa ve 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263640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0C8D8"/>
                </a:solidFill>
                <a:latin typeface="Calibri"/>
              </a:rPr>
              <a:t>Tarım ve Orman Bakanlığı  •  Su Verimliliği Yönetmeliği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263640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B0C8D8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ÖNCE NETLEŞTİRELİM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Mavi belge tek cümle: suyu ölçün, azaltın, kanıtlayın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Teknik terim yok. Aşağıdaki 3 kutu bütün işi anlatır.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46304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3703320" cy="822960"/>
          </a:xfrm>
          <a:prstGeom prst="roundRect">
            <a:avLst>
              <a:gd name="adj" fmla="val 8000"/>
            </a:avLst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72768"/>
            <a:ext cx="3337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Tesisinizde suyu görün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Hangi musluktan, hangi makineden, günde kaç m³ çıktığını yazın. Sayaç yoksa fatura + tahminle başlayın.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46304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51960" y="141732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51960" y="1417320"/>
            <a:ext cx="3703320" cy="822960"/>
          </a:xfrm>
          <a:prstGeom prst="roundRect">
            <a:avLst>
              <a:gd name="adj" fmla="val 8000"/>
            </a:avLst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572768"/>
            <a:ext cx="3337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Boşa giden suyu kesin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4231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Sifonu 2 kademeli yapın, musluğu fotoselli yapın, hortumu tabancalı yapın, kaçağı tamir edin.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74736" y="146304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60" y="1417320"/>
            <a:ext cx="37033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60" y="1417320"/>
            <a:ext cx="3703320" cy="822960"/>
          </a:xfrm>
          <a:prstGeom prst="roundRect">
            <a:avLst>
              <a:gd name="adj" fmla="val 8000"/>
            </a:avLst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572768"/>
            <a:ext cx="3337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3. Bunu sisteme yükleyin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4231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csys.tarimorman.gov.tr  •  fotoğraf, fatura, eğitim imzası  •  belge 5 yıl geçerli.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" y="489204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484632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9834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D6942A"/>
                </a:solidFill>
                <a:latin typeface="Calibri"/>
              </a:rPr>
              <a:t>Kim almak zorunda?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394960"/>
            <a:ext cx="109728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Kılavuz listesindeki NACE’de çalışıyor ve 50 veya daha fazla personeliniz varsa → zorunlu. 50’nin altındaysanız → isterseniz alın (aynı işler). Liste: suverimliligi.gov.tr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YOL HARİTASI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Yapacağınız iş tam 7 tane. Hepsi bu.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Mavi belge bu 7’nin kanıtını ister. Aşağıdakileri bitirince başvurursunuz.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417320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2920" y="1481328"/>
            <a:ext cx="384048" cy="384048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36192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444752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Sorumlu seçin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444752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1 lider + 1 eğitici + 1 teknik kişi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2075687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2029967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2920" y="2139696"/>
            <a:ext cx="384048" cy="384048"/>
          </a:xfrm>
          <a:prstGeom prst="ellipse">
            <a:avLst/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103120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Suyu yazın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03120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Nereden geliyor, nerede bitiyor, m³ olarak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" y="2734056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2688336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" y="2798064"/>
            <a:ext cx="384048" cy="384048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852928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761488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Hedef koyun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761488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Örn. 5 yılda %15 daha az su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" y="3392424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5760" y="3346704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C47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511296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19856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Plan yazın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3419856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Bu yıl musluk, gelecek yıl yağmur deposu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" y="4050791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5760" y="4005072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2920" y="4114800"/>
            <a:ext cx="384048" cy="384048"/>
          </a:xfrm>
          <a:prstGeom prst="ellipse">
            <a:avLst/>
          </a:prstGeom>
          <a:solidFill>
            <a:srgbClr val="5C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169663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07822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Eğitim verin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078224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Herkese 1 kez ‘suyu boşa akıtma’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709159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5760" y="4663440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2920" y="4773168"/>
            <a:ext cx="384048" cy="384048"/>
          </a:xfrm>
          <a:prstGeom prst="ellipse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828031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736592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Armatürü değiştirin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4736592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Sifon, musluk, perlatör, hortum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2336" y="5367528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65760" y="5321808"/>
            <a:ext cx="768096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02920" y="5431536"/>
            <a:ext cx="384048" cy="384048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486400"/>
            <a:ext cx="3840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5394960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Afiş asın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4720" y="5394960"/>
            <a:ext cx="4389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Tuvalette, yemekhanede, atölyede görünsün</a:t>
            </a:r>
          </a:p>
        </p:txBody>
      </p:sp>
      <p:pic>
        <p:nvPicPr>
          <p:cNvPr id="50" name="Picture 49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371600"/>
            <a:ext cx="3520440" cy="4754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ÖRNEK 1  •  TUVALET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Düğmeler duvardadır: gömme rezervuar paneli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Kapakta düğme aramayın. Çoğu işyeri tuvaletinde çift basış, klozetin üstündeki duvar panelindedir.</a:t>
            </a:r>
          </a:p>
        </p:txBody>
      </p:sp>
      <p:pic>
        <p:nvPicPr>
          <p:cNvPr id="8" name="Picture 7" descr="flush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53312"/>
            <a:ext cx="5623560" cy="2331720"/>
          </a:xfrm>
          <a:prstGeom prst="rect">
            <a:avLst/>
          </a:prstGeom>
        </p:spPr>
      </p:pic>
      <p:pic>
        <p:nvPicPr>
          <p:cNvPr id="9" name="Picture 8" descr="flushpl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794760"/>
            <a:ext cx="5623560" cy="2468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08776" y="1399032"/>
            <a:ext cx="5623560" cy="22860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353312"/>
            <a:ext cx="56235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55080" y="1554480"/>
            <a:ext cx="640080" cy="640080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700784"/>
            <a:ext cx="6400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554480"/>
            <a:ext cx="4434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2448"/>
                </a:solidFill>
                <a:latin typeface="Calibri"/>
              </a:rPr>
              <a:t>Büyük basış  =  tam sifon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93392"/>
            <a:ext cx="443484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C2736"/>
                </a:solidFill>
                <a:latin typeface="Calibri"/>
              </a:rPr>
              <a:t>Duvar panelindeki büyük düğme. Katı atık için. Eski tek basışlı rezervuar her seferinde 8–9 litre boşaltır; bunu yalnızca gerektiğinde kullanın.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3840480"/>
            <a:ext cx="5623560" cy="24688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3794760"/>
            <a:ext cx="56235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55080" y="4023360"/>
            <a:ext cx="640080" cy="640080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169663"/>
            <a:ext cx="6400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 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023360"/>
            <a:ext cx="4434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2448"/>
                </a:solidFill>
                <a:latin typeface="Calibri"/>
              </a:rPr>
              <a:t>Küçük basış  =  yarım sifon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4480560"/>
            <a:ext cx="443484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C2736"/>
                </a:solidFill>
                <a:latin typeface="Calibri"/>
              </a:rPr>
              <a:t>Paneldeki küçük düğme. Sıvı atık için 2–3 litre yeter. 40 çalışan günde 4 kez basarsa: eski sistem ~1.280 L, yeni sistem ~480 L. Fark günde 800 litre.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ÖRNEK 2  •  MUSLUK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Fotoselli musluk + perlatör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El çekilince su kesilir. Uca takılan süzgeç (perlatör) aynı yıkamayı yarı suyla yapar.</a:t>
            </a:r>
          </a:p>
        </p:txBody>
      </p:sp>
      <p:pic>
        <p:nvPicPr>
          <p:cNvPr id="8" name="Picture 7" descr="sens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53312"/>
            <a:ext cx="3794760" cy="3063240"/>
          </a:xfrm>
          <a:prstGeom prst="rect">
            <a:avLst/>
          </a:prstGeom>
        </p:spPr>
      </p:pic>
      <p:pic>
        <p:nvPicPr>
          <p:cNvPr id="9" name="Picture 8" descr="a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53312"/>
            <a:ext cx="3794760" cy="3063240"/>
          </a:xfrm>
          <a:prstGeom prst="rect">
            <a:avLst/>
          </a:prstGeom>
        </p:spPr>
      </p:pic>
      <p:pic>
        <p:nvPicPr>
          <p:cNvPr id="10" name="Picture 9" descr="oldn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353312"/>
            <a:ext cx="3749039" cy="3063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6615" y="461772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457200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949A"/>
                </a:solidFill>
                <a:latin typeface="Calibri"/>
              </a:rPr>
              <a:t>Fotoselli veya zaman ayarlı musluk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3520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C2736"/>
                </a:solidFill>
                <a:latin typeface="Calibri"/>
              </a:rPr>
              <a:t>Eli çekince / süre dolunca su kesilir. ‘Açık unutulan musluk’ biter. Lavabo başında 10–12 L/dk yerine 5–6 L/dk.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461772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06240" y="457200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466344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6942A"/>
                </a:solidFill>
                <a:latin typeface="Calibri"/>
              </a:rPr>
              <a:t>Perlatör (musluk ucu süzgeci)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029200"/>
            <a:ext cx="3520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C2736"/>
                </a:solidFill>
                <a:latin typeface="Calibri"/>
              </a:rPr>
              <a:t>Uca vidalanır, suyu havayla karıştırır. Pahalı bir yatırım değil. Mevcut musluğa 5 dakikada takılır. Debi yarıya iner, yıkama aynı durur.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5" y="461772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4572000"/>
            <a:ext cx="379476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663440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478C4"/>
                </a:solidFill>
                <a:latin typeface="Calibri"/>
              </a:rPr>
              <a:t>Eski musluk → yeni musluk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029200"/>
            <a:ext cx="3520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C2736"/>
                </a:solidFill>
                <a:latin typeface="Calibri"/>
              </a:rPr>
              <a:t>Solda damlayan, sürekli açık musluk. Sağda fotosel + perlatör. Belgeye: satın alma faturası + takılı fotoğraf yeter.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ÖRNEK 3  •  ATÖLYE VE BAHÇE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Açık hortum yasak, tabanca zorunlu, damlama tamir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Fabrika suyunun çoğu burada kaçar. Üç fotoğraf: yapmayın / yapın / hemen onarın.</a:t>
            </a:r>
          </a:p>
        </p:txBody>
      </p:sp>
      <p:pic>
        <p:nvPicPr>
          <p:cNvPr id="8" name="Picture 7" descr="hoseb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53312"/>
            <a:ext cx="3794760" cy="2880360"/>
          </a:xfrm>
          <a:prstGeom prst="rect">
            <a:avLst/>
          </a:prstGeom>
        </p:spPr>
      </p:pic>
      <p:pic>
        <p:nvPicPr>
          <p:cNvPr id="9" name="Picture 8" descr="hosegoo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53312"/>
            <a:ext cx="3794760" cy="2880360"/>
          </a:xfrm>
          <a:prstGeom prst="rect">
            <a:avLst/>
          </a:prstGeom>
        </p:spPr>
      </p:pic>
      <p:pic>
        <p:nvPicPr>
          <p:cNvPr id="10" name="Picture 9" descr="lea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353312"/>
            <a:ext cx="3749039" cy="2880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6615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D64E48"/>
                </a:solidFill>
                <a:latin typeface="Calibri"/>
              </a:rPr>
              <a:t>Yapmayın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Hortumu yere bırakıp suyu açık akıtmak. 1 dakika ≈ 15–20 litre. Belgede bu fotoğraf ‘kayıp’ sayılır.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062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0949A"/>
                </a:solidFill>
                <a:latin typeface="Calibri"/>
              </a:rPr>
              <a:t>Yapın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Tetikli tabanca: el basınca su gelir, bırakınca kesilir. Zemin ve makine yıkamada aynı temizlik, yarı su.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5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D6942A"/>
                </a:solidFill>
                <a:latin typeface="Calibri"/>
              </a:rPr>
              <a:t>Hemen onarın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Damlayan flanş, salmastra, vanadan gece boyu m³ gider. Haftalık ‘kaçak turu’ hedefe yazılır.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ÖRNEK 4  •  İNSAN + HATIRLATICI + YAĞMUR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Afişi asın, 20 dakika eğitim, çatı suyunu toplayın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5. madde eğitim, 7. madde afiş. Yağmur ise sonraki Yeşil belge için şimdiden puan.</a:t>
            </a:r>
          </a:p>
        </p:txBody>
      </p:sp>
      <p:pic>
        <p:nvPicPr>
          <p:cNvPr id="8" name="Picture 7" descr="po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53312"/>
            <a:ext cx="3794760" cy="2880360"/>
          </a:xfrm>
          <a:prstGeom prst="rect">
            <a:avLst/>
          </a:prstGeom>
        </p:spPr>
      </p:pic>
      <p:pic>
        <p:nvPicPr>
          <p:cNvPr id="9" name="Picture 8" descr="t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53312"/>
            <a:ext cx="3794760" cy="2880360"/>
          </a:xfrm>
          <a:prstGeom prst="rect">
            <a:avLst/>
          </a:prstGeom>
        </p:spPr>
      </p:pic>
      <p:pic>
        <p:nvPicPr>
          <p:cNvPr id="10" name="Picture 9" descr="r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353312"/>
            <a:ext cx="3749039" cy="2880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6615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D6942A"/>
                </a:solidFill>
                <a:latin typeface="Calibri"/>
              </a:rPr>
              <a:t>Tuvalet duvarına afiş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‘Küçük basış 2 L — büyük basış 8 L’ (duvardaki panel). Fotoğrafını çekin, sisteme yükleyin.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062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0949A"/>
                </a:solidFill>
                <a:latin typeface="Calibri"/>
              </a:rPr>
              <a:t>Kısa eğitim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Başvurudan önce 1 bireysel + 1 işyeri eğitimi. Video: suverimliligi.gov.tr. İmza listesi 5 yıl saklanır.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5" y="443484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4389120"/>
            <a:ext cx="37947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498848"/>
            <a:ext cx="35204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2478C4"/>
                </a:solidFill>
                <a:latin typeface="Calibri"/>
              </a:rPr>
              <a:t>Yağmur deposu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352044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Çatı oluğu → filtre → depo → bahçe / zemin yıkama. Şebeke suyunu çiçeğe vermeyin.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KAĞIT İŞİ DE BASİT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3 kişi, 1 tablo, 1 hedef yeterli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Büyük danışmanlık şart değil. Aşağıdaki örnek bir KOBİ’nin defterinden.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41732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0949A"/>
                </a:solidFill>
                <a:latin typeface="Calibri"/>
              </a:rPr>
              <a:t>Kim yapacak?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338328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Lider: işletme müdürü (tek kişi).
Eğitim: İK veya vardiya amiri.
Yardımcı: bakım ustası.
Bir kişi 2 rol alabilir.
Atamayı bir A4 yazıyla imzalayın.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41732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536192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2478C4"/>
                </a:solidFill>
                <a:latin typeface="Calibri"/>
              </a:rPr>
              <a:t>Suyu nasıl yazacaksınız?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11680"/>
            <a:ext cx="338328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Kaynak: şebeke 8.400 m³
kuyu 3.100 m³
Nereye gitti:
musluk-tuvalet 1.200
yıkama 4.600
soğutma 4.500
kaçak 1.200
Toplam = kaynak toplamı olmalı.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41732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1371600"/>
            <a:ext cx="37033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36192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D6942A"/>
                </a:solidFill>
                <a:latin typeface="Calibri"/>
              </a:rPr>
              <a:t>Hedef örneği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011680"/>
            <a:ext cx="338328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C2736"/>
                </a:solidFill>
                <a:latin typeface="Calibri"/>
              </a:rPr>
              <a:t>Bu yıl: gömme rezervuar panellerini 2 kademeli yapın.
Bu yıl: 20 lavaboya perlatör + 8’ine fotosel.
Bu yıl: hortum tabancası.
3 yılda: yağmur deposu.
Sayı: 11.500 → 9.800 m³/yıl.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KİM BAŞVURUR?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50 kişi eşiği. NACE listeniz kılavuzda varsa bakın.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Şüpheniz varsa SGK personel sayısı + oda belgesindeki NACE koduna bakın.</a:t>
            </a:r>
          </a:p>
        </p:txBody>
      </p:sp>
      <p:pic>
        <p:nvPicPr>
          <p:cNvPr id="8" name="Picture 7" descr="pl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3794760" cy="4800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79976" y="1417320"/>
            <a:ext cx="7452360" cy="2240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745236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164592" cy="2240280"/>
          </a:xfrm>
          <a:prstGeom prst="rect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508760"/>
            <a:ext cx="6858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D64E48"/>
                </a:solidFill>
                <a:latin typeface="Calibri"/>
              </a:rPr>
              <a:t>Zorunlu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920240"/>
            <a:ext cx="685800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C2736"/>
                </a:solidFill>
                <a:latin typeface="Calibri"/>
              </a:rPr>
              <a:t>NACE kılavuzda YÜKÜMLÜ ve 50+ çalışan. 18 ay içinde sistemi kurup Mavi belgeye başvurun. Sonra 5 yıl içinde Yeşil’e gidin. Örnek: 180 kişilik boyahane, dökümhane, gıda tesisi.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840480"/>
            <a:ext cx="7452360" cy="237744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3794760"/>
            <a:ext cx="7452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3794760"/>
            <a:ext cx="164592" cy="2377440"/>
          </a:xfrm>
          <a:prstGeom prst="rect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931920"/>
            <a:ext cx="6858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A8A63"/>
                </a:solidFill>
                <a:latin typeface="Calibri"/>
              </a:rPr>
              <a:t>Gönüllü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343400"/>
            <a:ext cx="685800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C2736"/>
                </a:solidFill>
                <a:latin typeface="Calibri"/>
              </a:rPr>
              <a:t>50’nin altı KOBİ veya listede gönüllü yazan faaliyet. Aynı sifon, aynı musluk, aynı form. İsterseniz Yeşil’e de atlayabilirsiniz. Örnek: 22 kişilik atölye.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BAŞVURU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Önce yetkili kişi, sonra 6 evrak, sonra gönder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Tek adres: csys.tarimorman.gov.tr  •  e-Devlet  •  kargo ile gitmez</a:t>
            </a:r>
          </a:p>
        </p:txBody>
      </p:sp>
      <p:pic>
        <p:nvPicPr>
          <p:cNvPr id="8" name="Picture 7" descr="ce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353312"/>
            <a:ext cx="3429000" cy="2331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02336" y="1399032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2920" y="1673352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55648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17904"/>
            <a:ext cx="67665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Yetki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83664"/>
            <a:ext cx="67665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A687A"/>
                </a:solidFill>
                <a:latin typeface="Calibri"/>
              </a:rPr>
              <a:t>Firma + tesis + bir kişi sistemde eşleşsin. Onay maili gelince devam.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" y="2569463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523744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843784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926079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688336"/>
            <a:ext cx="67665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6 evrak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054096"/>
            <a:ext cx="67665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A687A"/>
                </a:solidFill>
                <a:latin typeface="Calibri"/>
              </a:rPr>
              <a:t>SGK, oda belgesi, kapasite, sanayi sicil, ticaret sicil, çevre izin. Her biri en fazla 15 MB.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3739896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694176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2920" y="4014215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096512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858768"/>
            <a:ext cx="67665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7 işin kanıtı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24528"/>
            <a:ext cx="67665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A687A"/>
                </a:solidFill>
                <a:latin typeface="Calibri"/>
              </a:rPr>
              <a:t>Ekip yazısı, su tablosu, hedef, eğitim imzası, musluk-sifon fotoğrafı, afiş fotoğrafı.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" y="4910328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4864608"/>
            <a:ext cx="77724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5184648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66944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29200"/>
            <a:ext cx="67665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2448"/>
                </a:solidFill>
                <a:latin typeface="Calibri"/>
              </a:rPr>
              <a:t>Gönder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394960"/>
            <a:ext cx="67665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A687A"/>
                </a:solidFill>
                <a:latin typeface="Calibri"/>
              </a:rPr>
              <a:t>PDF’i oku, ‘doğrudur’ de, Başvuruyu Gönder. Eksik olursa 60 gün düzeltme.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YARIN SABAH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Bu 8 işi bu ay bitirirseniz belgenin yarısı biter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Pahalı yatırım şart değil. Çoğu hırdavatçıdan çıkar.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399032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53312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2920" y="1682495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64792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1554480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Tuvaletleri gezin. Düğme kapakta değil duvardadır. Tek basışlı paneli 2 kademeli (8 L / 2 L) yapın.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399032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353312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1682495"/>
            <a:ext cx="438912" cy="438912"/>
          </a:xfrm>
          <a:prstGeom prst="ellipse">
            <a:avLst/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64792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6872" y="1554480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Her lavaboya perlatör takın. Yemekhane ve misafir tuvaletlerine fotoselli musluk koyun.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2606039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56032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2889503"/>
            <a:ext cx="438912" cy="438912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971800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2761488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Açık hortumları toplayın. Her hortumun ucuna tetikli tabanca.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2606039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63640" y="256032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0" y="2889503"/>
            <a:ext cx="438912" cy="438912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971800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761488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Damlayan vanayı bu hafta değiştirin. Gece su sayacını okuyun: üretim yokken dönüyorsa kaçak var.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" y="3813048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5760" y="3767328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2920" y="4096512"/>
            <a:ext cx="438912" cy="438912"/>
          </a:xfrm>
          <a:prstGeom prst="ellipse">
            <a:avLst/>
          </a:prstGeom>
          <a:solidFill>
            <a:srgbClr val="5C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178808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3968496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Klozet üstündeki duvar paneline A4 asın: küçük basış 2 L, büyük basış 8 L.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0216" y="3813048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63640" y="3767328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0800" y="4096512"/>
            <a:ext cx="438912" cy="438912"/>
          </a:xfrm>
          <a:prstGeom prst="ellipse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178808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76872" y="3968496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3 kişilik ekibi yazıyla atayın. Su faturasını Excel’e dökün.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5020055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5760" y="4974336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2920" y="5303520"/>
            <a:ext cx="438912" cy="43891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385816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5175503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suverimliligi.gov.tr videosunu tüm personele izletin, imza alın.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0216" y="5020055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63640" y="4974336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00800" y="5303520"/>
            <a:ext cx="438912" cy="438912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385816"/>
            <a:ext cx="4389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76872" y="5175503"/>
            <a:ext cx="4800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csys.tarimorman.gov.tr hesabını açın, yetki başvurusunu başlatın.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1078992"/>
          </a:xfrm>
          <a:prstGeom prst="rect">
            <a:avLst/>
          </a:prstGeom>
          <a:solidFill>
            <a:srgbClr val="0A2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6942A"/>
                </a:solidFill>
                <a:latin typeface="Calibri"/>
              </a:rPr>
              <a:t>KAPIDAN ÇIKMADAN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8912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Fotoğrafı çekilmiş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AD6E6"/>
                </a:solidFill>
                <a:latin typeface="Calibri"/>
              </a:rPr>
              <a:t>Mavi belge müfettişi tesisde dolaşır gibi düşünün. Gözle görünen şeyler puan kazandırır.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39903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35331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2920" y="1517904"/>
            <a:ext cx="347472" cy="34747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46304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Duvarda gömme rezervuar paneli var: büyük basış 8 L, küçük 2 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39903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35331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1517904"/>
            <a:ext cx="347472" cy="347472"/>
          </a:xfrm>
          <a:prstGeom prst="ellipse">
            <a:avLst/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7276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46304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Lavabolarda perlatör var; yoğun yerde fotosel var.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" y="217627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13055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2295144"/>
            <a:ext cx="347472" cy="347472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35000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4028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Hortumların ucunda tabanca var, açık akan hortum yok.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217627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63640" y="213055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0" y="2295144"/>
            <a:ext cx="347472" cy="347472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35000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24028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Kaçak yok / tamir kaydı var.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" y="295351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5760" y="290779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2920" y="3072384"/>
            <a:ext cx="347472" cy="347472"/>
          </a:xfrm>
          <a:prstGeom prst="ellipse">
            <a:avLst/>
          </a:prstGeom>
          <a:solidFill>
            <a:srgbClr val="5C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12724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01752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Kapıda afiş var; fotoğraf çekildi.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0216" y="295351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63640" y="290779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0800" y="3072384"/>
            <a:ext cx="347472" cy="347472"/>
          </a:xfrm>
          <a:prstGeom prst="ellipse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12724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01752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Eğitim imza listesi klasörde.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373075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5760" y="368503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2920" y="3849623"/>
            <a:ext cx="347472" cy="347472"/>
          </a:xfrm>
          <a:prstGeom prst="ellipse">
            <a:avLst/>
          </a:prstGeom>
          <a:solidFill>
            <a:srgbClr val="009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904487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794759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3 kişilik ekip yazısı imzalı.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0216" y="373075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63640" y="3685031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00800" y="3849623"/>
            <a:ext cx="347472" cy="347472"/>
          </a:xfrm>
          <a:prstGeom prst="ellipse">
            <a:avLst/>
          </a:prstGeom>
          <a:solidFill>
            <a:srgbClr val="247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904487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794759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Yıllık su tablosu (gelen = giden) duruyor.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02336" y="450799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5760" y="446227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2920" y="4626864"/>
            <a:ext cx="347472" cy="347472"/>
          </a:xfrm>
          <a:prstGeom prst="ellipse">
            <a:avLst/>
          </a:prstGeom>
          <a:solidFill>
            <a:srgbClr val="D69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68172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457200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Hedef kâğıtta: bu yıl musluk, 3. yıl yağmur.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0216" y="450799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263640" y="446227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400800" y="4626864"/>
            <a:ext cx="347472" cy="347472"/>
          </a:xfrm>
          <a:prstGeom prst="ellipse">
            <a:avLst/>
          </a:prstGeom>
          <a:solidFill>
            <a:srgbClr val="D6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468172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457200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6 evrak tarandı (SGK, oda, kapasite, sicil, gazete, çevre).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2336" y="528523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65760" y="523951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02920" y="5404104"/>
            <a:ext cx="347472" cy="347472"/>
          </a:xfrm>
          <a:prstGeom prst="ellipse">
            <a:avLst/>
          </a:prstGeom>
          <a:solidFill>
            <a:srgbClr val="5C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545896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34924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Yetki maili geldi, CSYS açık.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00216" y="528523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263640" y="5239512"/>
            <a:ext cx="5715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400800" y="5404104"/>
            <a:ext cx="347472" cy="347472"/>
          </a:xfrm>
          <a:prstGeom prst="ellipse">
            <a:avLst/>
          </a:prstGeom>
          <a:solidFill>
            <a:srgbClr val="1A8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5458968"/>
            <a:ext cx="3474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349240"/>
            <a:ext cx="49377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1C2736"/>
                </a:solidFill>
                <a:latin typeface="Calibri"/>
              </a:rPr>
              <a:t>PDF’e bakıldı, gönderildi.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565392"/>
            <a:ext cx="8686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A687A"/>
                </a:solidFill>
                <a:latin typeface="Calibri"/>
              </a:rPr>
              <a:t>Endüstriyel Tesisler için Mavi Su Verimliliği Belgesi  •  Tarım ve Orman Bakanlığı mevzuatı esas alınmıştır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55680" y="6565392"/>
            <a:ext cx="7315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5A687A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
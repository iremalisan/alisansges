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4892040" cy="347472"/>
          </a:xfrm>
          <a:prstGeom prst="roundRect">
            <a:avLst>
              <a:gd name="adj" fmla="val 50000"/>
            </a:avLst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4892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0A2448"/>
                </a:solidFill>
                <a:latin typeface="Calibri"/>
              </a:rPr>
              <a:t>SU VERİMLİLİĞİ  •  ENDÜSTRİYEL TESİSLER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7498079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Her tesis için
Mavi Su Belgesi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694944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D2E4EE"/>
                </a:solidFill>
                <a:latin typeface="Calibri"/>
              </a:rPr>
              <a:t>Tekstil, gıda, metal, kimya… NACE’niz ne olursa olsun:
su verimliliği sistemini kurmak, 7 kriteri sağlamak, belgeye başvurmak.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091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 adım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47091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47548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Örnekli anlatım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70916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7548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Zorunlu + gönüllü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749807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0C8D8"/>
                </a:solidFill>
                <a:latin typeface="Calibri"/>
              </a:rPr>
              <a:t>Tarım ve Orman Bakanlığı  •  Su Verimliliği Yönetmeliği (RG 27.12.2024 / 32765)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263640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B0C8D8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BAĞLAM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Neden su verimliliği belgesi?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Sanayi Türkiye su kullanımının ~%11’i. Belge, suyu ölçülebilir ve izlenebilir hale getirir.</a:t>
            </a:r>
          </a:p>
        </p:txBody>
      </p:sp>
      <p:pic>
        <p:nvPicPr>
          <p:cNvPr id="8" name="Picture 7" descr="pla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17320"/>
            <a:ext cx="3977639" cy="3063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4480560"/>
            <a:ext cx="3977639" cy="1691640"/>
          </a:xfrm>
          <a:prstGeom prst="roundRect">
            <a:avLst>
              <a:gd name="adj" fmla="val 6000"/>
            </a:avLst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461772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D6942A"/>
                </a:solidFill>
                <a:latin typeface="Calibri"/>
              </a:rPr>
              <a:t>Ulusal hedef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4937760"/>
            <a:ext cx="3657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Endüstride mevcut en iyi tekniklerle %50’ye varan su kazanımı hedefleniyor. 152 NACE için rehber var.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" y="1463040"/>
            <a:ext cx="2286000" cy="214884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1417320"/>
            <a:ext cx="22860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05740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A2448"/>
                </a:solidFill>
                <a:latin typeface="Calibri"/>
              </a:rPr>
              <a:t>%11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20116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Türkiye’de toplam suyun
sanayideki payı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25496" y="1463040"/>
            <a:ext cx="2286000" cy="214884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88920" y="1417320"/>
            <a:ext cx="22860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6080" y="1572768"/>
            <a:ext cx="384048" cy="384048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205740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A2448"/>
                </a:solidFill>
                <a:latin typeface="Calibri"/>
              </a:rPr>
              <a:t>%50’ye varan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697480"/>
            <a:ext cx="20116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Sanayide ulusal su
kazanımı hedefi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48656" y="1463040"/>
            <a:ext cx="2286000" cy="214884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12080" y="1417320"/>
            <a:ext cx="22860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49240" y="1572768"/>
            <a:ext cx="384048" cy="384048"/>
          </a:xfrm>
          <a:prstGeom prst="ellipse">
            <a:avLst/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05740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0A2448"/>
                </a:solidFill>
                <a:latin typeface="Calibri"/>
              </a:rPr>
              <a:t>~1.300 m³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697480"/>
            <a:ext cx="20116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Kişi başı yıllık
kullanılabilir su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" y="3794759"/>
            <a:ext cx="7223760" cy="242316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" y="3749039"/>
            <a:ext cx="722376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88620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0A2448"/>
                </a:solidFill>
                <a:latin typeface="Calibri"/>
              </a:rPr>
              <a:t>Tipik bir fabrikada suyun gittiği yer (örnek dağılım)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297680"/>
            <a:ext cx="2880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Proses / yıkama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4352544"/>
            <a:ext cx="1053388" cy="182880"/>
          </a:xfrm>
          <a:prstGeom prst="roundRect">
            <a:avLst>
              <a:gd name="adj" fmla="val 4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4297680"/>
            <a:ext cx="548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00949A"/>
                </a:solidFill>
                <a:latin typeface="Calibri"/>
              </a:rPr>
              <a:t>%32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45152"/>
            <a:ext cx="2880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Soğutma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4700016"/>
            <a:ext cx="790041" cy="182880"/>
          </a:xfrm>
          <a:prstGeom prst="roundRect">
            <a:avLst>
              <a:gd name="adj" fmla="val 40000"/>
            </a:avLst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4645152"/>
            <a:ext cx="548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478C4"/>
                </a:solidFill>
                <a:latin typeface="Calibri"/>
              </a:rPr>
              <a:t>%24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92624"/>
            <a:ext cx="2880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Temizlik / CIP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0" y="5047488"/>
            <a:ext cx="592531" cy="182880"/>
          </a:xfrm>
          <a:prstGeom prst="roundRect">
            <a:avLst>
              <a:gd name="adj" fmla="val 40000"/>
            </a:avLst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4992624"/>
            <a:ext cx="548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D6942A"/>
                </a:solidFill>
                <a:latin typeface="Calibri"/>
              </a:rPr>
              <a:t>%18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0096"/>
            <a:ext cx="2880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Buhar / kazan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74720" y="5394959"/>
            <a:ext cx="526694" cy="182880"/>
          </a:xfrm>
          <a:prstGeom prst="roundRect">
            <a:avLst>
              <a:gd name="adj" fmla="val 40000"/>
            </a:avLst>
          </a:prstGeom>
          <a:solidFill>
            <a:srgbClr val="5C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5340096"/>
            <a:ext cx="548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5C4EA8"/>
                </a:solidFill>
                <a:latin typeface="Calibri"/>
              </a:rPr>
              <a:t>%16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687568"/>
            <a:ext cx="2880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Sosyal + peyzaj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74720" y="5742432"/>
            <a:ext cx="329184" cy="182880"/>
          </a:xfrm>
          <a:prstGeom prst="roundRect">
            <a:avLst>
              <a:gd name="adj" fmla="val 40000"/>
            </a:avLst>
          </a:prstGeom>
          <a:solidFill>
            <a:srgbClr val="D6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2280" y="5687568"/>
            <a:ext cx="5486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D64E48"/>
                </a:solidFill>
                <a:latin typeface="Calibri"/>
              </a:rPr>
              <a:t>%10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Endüstriyel Tesisler için Mavi Su Verimliliği Belgesi  •  Tarım ve Orman Bakanlığı mevzuatı esas alınmıştır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BELGE MİMARİSİ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Üç seviye: Mavi, Yeşil, Turkuaz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Mavi = sistemi kurdunuz. Yeşil ve turkuaz = ölçülebilir kazanım. Tüm endüstriyel NACE’ler için aynı merdiven.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" y="146304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36192"/>
            <a:ext cx="3703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MAVİ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93392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Sistem belgesi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32461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7 kriterle su verimliliği sistemini kurun.
Yükümlüler için ilk zorunlu basamak.
Gönüllüler de aynı 7 adımı izler.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3492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404104"/>
            <a:ext cx="2697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Geçerlilik: 5 yıl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146304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51960" y="141732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60" y="141732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1536192"/>
            <a:ext cx="3703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YEŞİL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1993392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Performans belgesi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51760"/>
            <a:ext cx="32461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Kendi NACE rehberinizdeki teknikleri uygulayın.
Suyun en az %10’u alternatif kaynaktan.
ISO 46001 ilk başvuruda aranmaz.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53492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5404104"/>
            <a:ext cx="2697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Yükümlü: en fazla 5 yıl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74736" y="146304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1417320"/>
            <a:ext cx="37033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60" y="1417320"/>
            <a:ext cx="3703320" cy="1051560"/>
          </a:xfrm>
          <a:prstGeom prst="roundRect">
            <a:avLst>
              <a:gd name="adj" fmla="val 8000"/>
            </a:avLst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536192"/>
            <a:ext cx="3703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TURKUAZ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1993392"/>
            <a:ext cx="3703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İleri seviye (gönüllü)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651760"/>
            <a:ext cx="32461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C2736"/>
                </a:solidFill>
                <a:latin typeface="Calibri"/>
              </a:rPr>
              <a:t>Atıksuyun en az %20’sini geri kazanın.
Rehber teknikleri + ISO 46001.
ISO 14046 su ayak izi belgesi.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534924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5404104"/>
            <a:ext cx="2697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Tamamen gönüllü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Endüstriyel Tesisler için Mavi Su Verimliliği Belgesi  •  Tarım ve Orman Bakanlığı mevzuatı esas alınmıştır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KAPSAM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Tesisiniz yükümlü mü, gönüllü mü?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Kural tüm sektörler için aynı: kılavuz Ek-1’deki NACE + çalışan sayısı. Liste: suverimliligi.gov.tr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" y="1463040"/>
            <a:ext cx="5669280" cy="475488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566928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5669280" cy="640080"/>
          </a:xfrm>
          <a:prstGeom prst="roundRect">
            <a:avLst>
              <a:gd name="adj" fmla="val 8000"/>
            </a:avLst>
          </a:prstGeom>
          <a:solidFill>
            <a:srgbClr val="D6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36192"/>
            <a:ext cx="5669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YÜKÜMLÜ  •  50 ve üzeri çalışan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40280"/>
            <a:ext cx="5257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D64E48"/>
                </a:solidFill>
                <a:latin typeface="Calibri"/>
              </a:rPr>
              <a:t>Kim?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C2736"/>
                </a:solidFill>
                <a:latin typeface="Calibri"/>
              </a:rPr>
              <a:t>Ek-1’de YÜKÜMLÜ yazan NACE’de faaliyet gösteren ve SGK’da 49’dan fazla çalışanı olan her endüstriyel tesis (tekstil, gıda, metal, kimya…).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 i="0">
                <a:solidFill>
                  <a:srgbClr val="D64E48"/>
                </a:solidFill>
                <a:latin typeface="Calibri"/>
              </a:rPr>
              <a:t>Ne yapılmalı?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C2736"/>
                </a:solidFill>
                <a:latin typeface="Calibri"/>
              </a:rPr>
              <a:t>Yönetmelik yayımı itibarıyla 18 ay içinde sistemi kurup Mavi Belge’ye başvurmak.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 i="0">
                <a:solidFill>
                  <a:srgbClr val="D64E48"/>
                </a:solidFill>
                <a:latin typeface="Calibri"/>
              </a:rPr>
              <a:t>Sonra?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C2736"/>
                </a:solidFill>
                <a:latin typeface="Calibri"/>
              </a:rPr>
              <a:t>En fazla 5 yıl içinde Yeşil Belge (Bakanlık onayıyla 7 yıla uzayabilir). İş termin planı Mavi dosyasında sunulur.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300" b="1" i="0">
                <a:solidFill>
                  <a:srgbClr val="0A2448"/>
                </a:solidFill>
                <a:latin typeface="Calibri"/>
              </a:rPr>
              <a:t>Örnek: 180 kişilik boyahane veya dökümhane → zorunlu.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146304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53212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5532120" cy="640080"/>
          </a:xfrm>
          <a:prstGeom prst="roundRect">
            <a:avLst>
              <a:gd name="adj" fmla="val 8000"/>
            </a:avLst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536192"/>
            <a:ext cx="55321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GÖNÜLLÜ  •  50’nin altı veya istek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50749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1A8A63"/>
                </a:solidFill>
                <a:latin typeface="Calibri"/>
              </a:rPr>
              <a:t>Kim?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C2736"/>
                </a:solidFill>
                <a:latin typeface="Calibri"/>
              </a:rPr>
              <a:t>Aynı NACE’de 50’den az çalışanı olan KOBİ’ler; Ek-1’de GÖNÜLLÜ yazan faaliyetler. Çalışan şartı aranmaz.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 i="0">
                <a:solidFill>
                  <a:srgbClr val="1A8A63"/>
                </a:solidFill>
                <a:latin typeface="Calibri"/>
              </a:rPr>
              <a:t>Ne yapılmalı?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C2736"/>
                </a:solidFill>
                <a:latin typeface="Calibri"/>
              </a:rPr>
              <a:t>Aynı 7 kriterle sistemi kurup csys.tarimorman.gov.tr üzerinden başvurabilirsiniz. Sıra bekleme yok.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300" b="1" i="0">
                <a:solidFill>
                  <a:srgbClr val="1A8A63"/>
                </a:solidFill>
                <a:latin typeface="Calibri"/>
              </a:rPr>
              <a:t>Avantaj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 i="0">
                <a:solidFill>
                  <a:srgbClr val="1C2736"/>
                </a:solidFill>
                <a:latin typeface="Calibri"/>
              </a:rPr>
              <a:t>Gönüllüler Yeşil veya Turkuaz’a doğrudan gidebilir. Müşteri, ihracat ve ihale dosyasında artı puandır.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300" b="1" i="0">
                <a:solidFill>
                  <a:srgbClr val="0A2448"/>
                </a:solidFill>
                <a:latin typeface="Calibri"/>
              </a:rPr>
              <a:t>Örnek: 22 kişilik atölye → gönüllü, aynı CSYS formu.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Endüstriyel Tesisler için Mavi Su Verimliliği Belgesi  •  Tarım ve Orman Bakanlığı mevzuatı esas alınmıştır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YOL HARİTASI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Mavi Belge’nin 7 adımı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Ek-3 kriterleri her NACE için aynıdır. Kanıt: atama yazısı, tablo, plan, imza listesi, fotoğraf.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" y="1463040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527048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81912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90472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A2448"/>
                </a:solidFill>
                <a:latin typeface="Calibri"/>
              </a:rPr>
              <a:t>Ekip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490472"/>
            <a:ext cx="4572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Lider + eğitim sorumlusu + teknik yardımcı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" y="2121408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2075688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2920" y="2185416"/>
            <a:ext cx="384048" cy="384048"/>
          </a:xfrm>
          <a:prstGeom prst="ellipse">
            <a:avLst/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40280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148840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A2448"/>
                </a:solidFill>
                <a:latin typeface="Calibri"/>
              </a:rPr>
              <a:t>Mevcut durum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148840"/>
            <a:ext cx="4572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Su-atıksu haritası, spesifik tüketim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" y="2779776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" y="2734056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" y="2843784"/>
            <a:ext cx="384048" cy="384048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898648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807208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A2448"/>
                </a:solidFill>
                <a:latin typeface="Calibri"/>
              </a:rPr>
              <a:t>Hedefler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807208"/>
            <a:ext cx="4572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5 yıllık, ölçülebilir, yeşile götüren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" y="3438144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" y="3392424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2920" y="3502152"/>
            <a:ext cx="384048" cy="384048"/>
          </a:xfrm>
          <a:prstGeom prst="ellipse">
            <a:avLst/>
          </a:prstGeom>
          <a:solidFill>
            <a:srgbClr val="C47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557016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465576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A2448"/>
                </a:solidFill>
                <a:latin typeface="Calibri"/>
              </a:rP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465576"/>
            <a:ext cx="4572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İş termin planı, maliyet, yıl yıl eylem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" y="4096511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" y="4050791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2920" y="4160520"/>
            <a:ext cx="384048" cy="384048"/>
          </a:xfrm>
          <a:prstGeom prst="ellipse">
            <a:avLst/>
          </a:prstGeom>
          <a:solidFill>
            <a:srgbClr val="5C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215383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123944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A2448"/>
                </a:solidFill>
                <a:latin typeface="Calibri"/>
              </a:rPr>
              <a:t>Eğitim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123944"/>
            <a:ext cx="4572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Bireysel + sektörel, yılda en az 1’er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" y="4754879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5760" y="4709159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20" y="4818888"/>
            <a:ext cx="384048" cy="384048"/>
          </a:xfrm>
          <a:prstGeom prst="ellipse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873751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4782312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A2448"/>
                </a:solidFill>
                <a:latin typeface="Calibri"/>
              </a:rPr>
              <a:t>Ekipman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4782312"/>
            <a:ext cx="4572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Musluk, rezervuar, perlatör, sensör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2336" y="5413248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65760" y="5367528"/>
            <a:ext cx="76352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02920" y="5477256"/>
            <a:ext cx="384048" cy="384048"/>
          </a:xfrm>
          <a:prstGeom prst="ellipse">
            <a:avLst/>
          </a:prstGeom>
          <a:solidFill>
            <a:srgbClr val="D6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532120"/>
            <a:ext cx="3840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5440680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i="0">
                <a:solidFill>
                  <a:srgbClr val="0A2448"/>
                </a:solidFill>
                <a:latin typeface="Calibri"/>
              </a:rPr>
              <a:t>Materyal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5440680"/>
            <a:ext cx="45720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Afiş, ekran, broşür, saha fotoğrafı</a:t>
            </a:r>
          </a:p>
        </p:txBody>
      </p:sp>
      <p:pic>
        <p:nvPicPr>
          <p:cNvPr id="50" name="Picture 49" descr="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417320"/>
            <a:ext cx="3611880" cy="470916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Endüstriyel Tesisler için Mavi Su Verimliliği Belgesi  •  Tarım ve Orman Bakanlığı mevzuatı esas alınmıştır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ADIM 1 VE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Ekibi kurun, suyu görünür kılın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Ölçülmeyen su yönetilemez. Sayaçlar proses, yardımcı ünite ve sosyal alanı ayrı konuşmalıdır.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" y="1417320"/>
            <a:ext cx="5806440" cy="233172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58064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5486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49A"/>
                </a:solidFill>
                <a:latin typeface="Calibri"/>
              </a:rPr>
              <a:t>Adım 1  •  Su verimliliği ekibi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48640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Kılavuz: 1 ekip lideri + en az 1 eğitim sorumlusu + en az 1 yardımcı.
Bir kişi en fazla 2 rol alabilir. Lider dışındakiler yalnızca görüntüleyebilir.
Örnek — Anadolu Tekstil: lider = işletme müdürü; eğitim = İK;
yardımcı = bakım + AAT. Sistem e-posta ile aktivasyon yollar.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1656" y="141732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81328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478C4"/>
                </a:solidFill>
                <a:latin typeface="Calibri"/>
              </a:rPr>
              <a:t>Adım 2  •  Mevcut durum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828800"/>
            <a:ext cx="507492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CSYS’de 7 sekme: su (kaynak-kullanım-ücret), GOSK,
peyzaj, eğitim, ekipman, materyal, sürdürülebilirlik.
Örnek kaynak: kuyu 420.000 + şebeke 280.000 m³.
Kütle denkliği: çekilen ≈ kullanılan + kayıp + ürün.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840480"/>
            <a:ext cx="11338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448"/>
                </a:solidFill>
                <a:latin typeface="Calibri"/>
              </a:rPr>
              <a:t>Örnek mevcut durum — 180 kişilik boyahane, referans yıl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16052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4279392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D6942A"/>
                </a:solidFill>
                <a:latin typeface="Calibri"/>
              </a:rPr>
              <a:t>Proses / yıkama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8006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A2448"/>
                </a:solidFill>
                <a:latin typeface="Calibri"/>
              </a:rPr>
              <a:t>224.000 m³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530352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5A687A"/>
                </a:solidFill>
                <a:latin typeface="Calibri"/>
              </a:rPr>
              <a:t>%32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416052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04872" y="4279392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00949A"/>
                </a:solidFill>
                <a:latin typeface="Calibri"/>
              </a:rPr>
              <a:t>Soğutma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4872" y="48006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A2448"/>
                </a:solidFill>
                <a:latin typeface="Calibri"/>
              </a:rPr>
              <a:t>168.000 m³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4872" y="530352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5A687A"/>
                </a:solidFill>
                <a:latin typeface="Calibri"/>
              </a:rPr>
              <a:t>%24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16052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0832" y="4279392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2478C4"/>
                </a:solidFill>
                <a:latin typeface="Calibri"/>
              </a:rPr>
              <a:t>Temizlik / CIP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48006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A2448"/>
                </a:solidFill>
                <a:latin typeface="Calibri"/>
              </a:rPr>
              <a:t>126.000 m³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530352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5A687A"/>
                </a:solidFill>
                <a:latin typeface="Calibri"/>
              </a:rPr>
              <a:t>%18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16052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4279392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5C4EA8"/>
                </a:solidFill>
                <a:latin typeface="Calibri"/>
              </a:rPr>
              <a:t>Buhar / kazan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48006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A2448"/>
                </a:solidFill>
                <a:latin typeface="Calibri"/>
              </a:rPr>
              <a:t>112.000 m³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530352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5A687A"/>
                </a:solidFill>
                <a:latin typeface="Calibri"/>
              </a:rPr>
              <a:t>%16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416052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4279392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D64E48"/>
                </a:solidFill>
                <a:latin typeface="Calibri"/>
              </a:rPr>
              <a:t>Sosyal + diğer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8006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0A2448"/>
                </a:solidFill>
                <a:latin typeface="Calibri"/>
              </a:rPr>
              <a:t>70.000 m³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530352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5A687A"/>
                </a:solidFill>
                <a:latin typeface="Calibri"/>
              </a:rPr>
              <a:t>%10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95560" y="4160520"/>
            <a:ext cx="1874519" cy="1965960"/>
          </a:xfrm>
          <a:prstGeom prst="roundRect">
            <a:avLst>
              <a:gd name="adj" fmla="val 8000"/>
            </a:avLst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68712" y="4279392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D6942A"/>
                </a:solidFill>
                <a:latin typeface="Calibri"/>
              </a:rPr>
              <a:t>TOPLAM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8712" y="48006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700.000 m³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2" y="5303520"/>
            <a:ext cx="1737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8D6E2"/>
                </a:solidFill>
                <a:latin typeface="Calibri"/>
              </a:rP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Endüstriyel Tesisler için Mavi Su Verimliliği Belgesi  •  Tarım ve Orman Bakanlığı mevzuatı esas alınmıştır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ADIM 3 VE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Hedefi sayıya, planı takvime bağlayın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CSYS Hedef Sepeti’nden seçin veya “Diğer” yazın. Her hedefe en az 1 eylem; termin en fazla +5 yıl.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" y="1417320"/>
            <a:ext cx="580644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580644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5486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D6942A"/>
                </a:solidFill>
                <a:latin typeface="Calibri"/>
              </a:rPr>
              <a:t>Örnek — boyahane hedef kaydı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057400"/>
            <a:ext cx="164592" cy="164592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448"/>
                </a:solidFill>
                <a:latin typeface="Calibri"/>
              </a:rPr>
              <a:t>MET ile toplam suyu azalt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21991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49A"/>
                </a:solidFill>
                <a:latin typeface="Calibri"/>
              </a:rPr>
              <a:t>700.000 → 520.000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7802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Sepet hedefi; gösterge m³/yıl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3017520"/>
            <a:ext cx="164592" cy="164592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2608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448"/>
                </a:solidFill>
                <a:latin typeface="Calibri"/>
              </a:rPr>
              <a:t>Yağmur suyu oranını artır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82112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49A"/>
                </a:solidFill>
                <a:latin typeface="Calibri"/>
              </a:rPr>
              <a:t>%0 → %4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3814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Termin: başvuru + 3 yıl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" y="3977639"/>
            <a:ext cx="164592" cy="164592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448"/>
                </a:solidFill>
                <a:latin typeface="Calibri"/>
              </a:rPr>
              <a:t>Atıksu geri kazanımını artır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42232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49A"/>
                </a:solidFill>
                <a:latin typeface="Calibri"/>
              </a:rPr>
              <a:t>%0 → %6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9826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AAT çıkışı kasa / zemin yıkamada</a:t>
            </a:r>
          </a:p>
        </p:txBody>
      </p:sp>
      <p:sp>
        <p:nvSpPr>
          <p:cNvPr id="23" name="Oval 22"/>
          <p:cNvSpPr/>
          <p:nvPr/>
        </p:nvSpPr>
        <p:spPr>
          <a:xfrm>
            <a:off x="594360" y="4937760"/>
            <a:ext cx="164592" cy="164592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448"/>
                </a:solidFill>
                <a:latin typeface="Calibri"/>
              </a:rPr>
              <a:t>Su kaybını düşür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02352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49A"/>
                </a:solidFill>
                <a:latin typeface="Calibri"/>
              </a:rPr>
              <a:t>%9 → %5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5838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Kılavuz örneği: çekim − kullanım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91656" y="141732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80" y="1371600"/>
            <a:ext cx="544068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1508760"/>
            <a:ext cx="50749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2478C4"/>
                </a:solidFill>
                <a:latin typeface="Calibri"/>
              </a:rPr>
              <a:t>Her hedefe bağlı eylem (zorunlu)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193852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1965960"/>
            <a:ext cx="960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Yıl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1938528"/>
            <a:ext cx="3063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Sayaç ağı + kaçak turu + eğitimler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322576"/>
            <a:ext cx="3063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A687A"/>
                </a:solidFill>
                <a:latin typeface="Calibri"/>
              </a:rPr>
              <a:t>Maliyet: 0,9 M TL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271576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2743200"/>
            <a:ext cx="960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Yıl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2715768"/>
            <a:ext cx="3063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Kapalı çevrim soğutma dönüşümü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3099816"/>
            <a:ext cx="3063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A687A"/>
                </a:solidFill>
                <a:latin typeface="Calibri"/>
              </a:rPr>
              <a:t>Maliyet: 3,2 M TL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349300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520440"/>
            <a:ext cx="960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Yıl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493008"/>
            <a:ext cx="3063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Çatı yağmur hasadı 250 m³ depo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877056"/>
            <a:ext cx="3063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A687A"/>
                </a:solidFill>
                <a:latin typeface="Calibri"/>
              </a:rPr>
              <a:t>Maliyet: 1,8 M TL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37960" y="427024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297680"/>
            <a:ext cx="960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Yıl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4270248"/>
            <a:ext cx="3063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AAT çıkışını uygun proseslere bağla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4654296"/>
            <a:ext cx="3063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A687A"/>
                </a:solidFill>
                <a:latin typeface="Calibri"/>
              </a:rPr>
              <a:t>Maliyet: 2,6 M TL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504748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5074920"/>
            <a:ext cx="9601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Yıl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5047488"/>
            <a:ext cx="3063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Yeşil belge dosyası + ISO 46001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5431536"/>
            <a:ext cx="3063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5A687A"/>
                </a:solidFill>
                <a:latin typeface="Calibri"/>
              </a:rPr>
              <a:t>Maliyet: 0,4 M TL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Endüstriyel Tesisler için Mavi Su Verimliliği Belgesi  •  Tarım ve Orman Bakanlığı mevzuatı esas alınmıştır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ADIM 5, 6 VE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İnsan, armatür ve görünür hatırlatıcılar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Mavi belge “sadece makine” değildir. Eğitim, musluk ve afiş her sektörde dosyanın parçasıdır.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5" y="141732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37160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3520440" cy="1691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3291840"/>
            <a:ext cx="3429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49A"/>
                </a:solidFill>
                <a:latin typeface="Calibri"/>
              </a:rPr>
              <a:t>5  Eğitim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34290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Başvurudan önce en az 1 bireysel + 1 sektörel eğitim.
Bireysel: suverimliligi.gov.tr videosu; tüm personel 5 yılda.
Sektörel: kendi NACE rehberiniz; lisans + 3 yıl deneyimli eğitmen.
Kanıt: imza listesi, tutanak, foto — 5 yıl saklanır.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41732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59" y="137160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i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08760"/>
            <a:ext cx="3520440" cy="16916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34840" y="3291840"/>
            <a:ext cx="3429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8A63"/>
                </a:solidFill>
                <a:latin typeface="Calibri"/>
              </a:rPr>
              <a:t>6  Su verimli ekipman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657600"/>
            <a:ext cx="34290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Kapsam bireysel kullanım: musluk, duş, rezervuar, perlatör, sensör.
Örnek: 42 lavaboya 6 L/dk perlatör, 18 tuvalete 6/3 L rezervuar.
Sosyal su ~%30 düşer. Değişim 5 yıllık planda yazılır.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0455" y="141732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83879" y="137160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oster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508760"/>
            <a:ext cx="3520440" cy="1691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66759" y="3291840"/>
            <a:ext cx="3429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D6942A"/>
                </a:solidFill>
                <a:latin typeface="Calibri"/>
              </a:rPr>
              <a:t>7  Yazılı-görsel materyal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3657600"/>
            <a:ext cx="34290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Afiş, broşür, kantin ekranı, yıkama odası talimatı.
Örnek: “Hortumu açık bırakma — 1 dk = 15 L”.
Kanıt: basılı örnek + saha fotoğrafı.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Endüstriyel Tesisler için Mavi Su Verimliliği Belgesi  •  Tarım ve Orman Bakanlığı mevzuatı esas alınmıştır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SAHA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Her fabrikada suyu nerede kurtarırsınız?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Önce kendi NACE rehberiniz (suverimliligi.gov.tr). Aşağıdakiler çoğu tesiste ortak MET’lerdir.</a:t>
            </a:r>
          </a:p>
        </p:txBody>
      </p:sp>
      <p:pic>
        <p:nvPicPr>
          <p:cNvPr id="8" name="Picture 7" descr="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852160" cy="2926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91656" y="141732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37160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81328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0949A"/>
                </a:solidFill>
                <a:latin typeface="Calibri"/>
              </a:rPr>
              <a:t>Sayaç ve kaçak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47088"/>
            <a:ext cx="24231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Proses / soğutma / buhar / sosyal ayrı sayılsın. Aylık sızıntı turu.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26296" y="141732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89720" y="137160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481328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0949A"/>
                </a:solidFill>
                <a:latin typeface="Calibri"/>
              </a:rPr>
              <a:t>Kapalı soğutma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47088"/>
            <a:ext cx="24231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Açık kule yerine kapalı çevrim; blowdown’u uygun yerde kullanın.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301752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297180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081528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0949A"/>
                </a:solidFill>
                <a:latin typeface="Calibri"/>
              </a:rPr>
              <a:t>Yıkama / CIP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47288"/>
            <a:ext cx="24231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Darbe durulama, iletkenlik kesimi, son durulama = sonraki ilk durulama.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6296" y="301752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20" y="297180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3081528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0949A"/>
                </a:solidFill>
                <a:latin typeface="Calibri"/>
              </a:rPr>
              <a:t>Buhar kazanı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447288"/>
            <a:ext cx="24231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Kondens dönüşü, blöf optimizasyonu, kaçak buhar avı.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91656" y="461772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57200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681728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0949A"/>
                </a:solidFill>
                <a:latin typeface="Calibri"/>
              </a:rPr>
              <a:t>Isı eşanjörü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47488"/>
            <a:ext cx="24231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Isınan soğutma suyunu proses ön ısıtmasında depolayın.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26296" y="461772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89720" y="4572000"/>
            <a:ext cx="269748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4681728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0949A"/>
                </a:solidFill>
                <a:latin typeface="Calibri"/>
              </a:rPr>
              <a:t>Yağmur / AAT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047488"/>
            <a:ext cx="24231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Çatı hasadı + arıtılmış su: zemin, kasa, yeşil alan, soğutma makyajı.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434840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0A2448"/>
                </a:solidFill>
                <a:latin typeface="Calibri"/>
              </a:rPr>
              <a:t>Temiz suyu kirli hatta karıştırmayın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754880"/>
            <a:ext cx="576072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87A"/>
                </a:solidFill>
                <a:latin typeface="Calibri"/>
              </a:rPr>
              <a:t>İçme suyu kalitesindeki şebekeyi yer yıkamada kullanmayın. Geri kullanımın proses uygunluğunu kalite / gıda / ISO sorumlusu onaylasın. NACE rehberindeki öncelikli teknikler iş termin planına yazılır.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Endüstriyel Tesisler için Mavi Su Verimliliği Belgesi  •  Tarım ve Orman Bakanlığı mevzuatı esas alınmıştır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ÜÇ SEKTÖR, AYNI MANTIK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Tekstil, gıda, metal — üç kazanç hikâyesi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Rakamlar öğretici senaryodur; kendi sayaç verinizle yeniden hesaplayın.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5" y="141732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37160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xt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481328"/>
            <a:ext cx="3575304" cy="1554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9768" y="3035808"/>
            <a:ext cx="3575304" cy="73152"/>
          </a:xfrm>
          <a:prstGeom prst="rect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82112"/>
            <a:ext cx="3429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00949A"/>
                </a:solidFill>
                <a:latin typeface="Calibri"/>
              </a:rPr>
              <a:t>Tekstil boyahane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84448"/>
            <a:ext cx="34290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Durum: sürekli durulama, iletkenlik yok.
İş: darbe durulama + son durulama tankı.
Sonuç: durulama suyu ~%40, tesis toplamı ~%10.
Belgeye: SOP, önce-sonra sayaç, eğitim tutanağı.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41732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59" y="137160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oo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481328"/>
            <a:ext cx="3575304" cy="15544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61688" y="3035808"/>
            <a:ext cx="3575304" cy="73152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182112"/>
            <a:ext cx="3429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D6942A"/>
                </a:solidFill>
                <a:latin typeface="Calibri"/>
              </a:rPr>
              <a:t>Gıda işleme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584448"/>
            <a:ext cx="34290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Durum: pastörizatör / yıkama suyu gideri.
İş: taşma suyu geri dönüş + hortum tabancası.
Sonuç: hat bazında %15–25 taze su düşer.
Belgeye: P&amp;ID, fotoğraf, aylık m³.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0455" y="141732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79" y="1371600"/>
            <a:ext cx="3794760" cy="480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et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7" y="1481328"/>
            <a:ext cx="3575304" cy="15544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293607" y="3035808"/>
            <a:ext cx="3575304" cy="73152"/>
          </a:xfrm>
          <a:prstGeom prst="rect">
            <a:avLst/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3182112"/>
            <a:ext cx="3429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478C4"/>
                </a:solidFill>
                <a:latin typeface="Calibri"/>
              </a:rPr>
              <a:t>Metal / soğutma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3584448"/>
            <a:ext cx="3429000" cy="2331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C2736"/>
                </a:solidFill>
                <a:latin typeface="Calibri"/>
              </a:rPr>
              <a:t>Durum: açık kule, yüksek blöf.
İş: kapalı çevrim + blöfün zemin yıkamada kullanımı.
Sonuç: makyaj suyu ciddi azalır; yağmur ile GOSK payı artar.
Belgeye: debi, analiz, kullanım noktası listesi.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Endüstriyel Tesisler için Mavi Su Verimliliği Belgesi  •  Tarım ve Orman Bakanlığı mevzuatı esas alınmıştır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İKİ TESİS, AYNI 7 ADIM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Büyük fabrika ve küçük atölye nasıl ilerler?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Ölçek değişir, kriter değişmez. Dosya tesis bazındadır: ayrı lokasyon = ayrı başvuru.</a:t>
            </a:r>
          </a:p>
        </p:txBody>
      </p:sp>
      <p:pic>
        <p:nvPicPr>
          <p:cNvPr id="8" name="Picture 7" descr="text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3794760" cy="2240280"/>
          </a:xfrm>
          <a:prstGeom prst="rect">
            <a:avLst/>
          </a:prstGeom>
        </p:spPr>
      </p:pic>
      <p:pic>
        <p:nvPicPr>
          <p:cNvPr id="9" name="Picture 8" descr="sm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94760"/>
            <a:ext cx="3794760" cy="2331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79976" y="1417320"/>
            <a:ext cx="7452360" cy="224028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745236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81328"/>
            <a:ext cx="7132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D64E48"/>
                </a:solidFill>
                <a:latin typeface="Calibri"/>
              </a:rPr>
              <a:t>Anadolu Tekstil A.Ş.  •  180 çalışan  •  YÜKÜMLÜ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74519"/>
            <a:ext cx="71323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18 ay içinde sistemi kurup önce yetki, sonra Mavi belge başvurusu yapar. CSYS’ye 4’lü/6’lı NACE, ürün, 6 zorunlu evrak ve 5 yıllık hedef-eylem girer. OSB içinde olsa bile kendi belgesini alır. İki fabrika varsa iki yetki, iki belge.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3840480"/>
            <a:ext cx="7452360" cy="233172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3794760"/>
            <a:ext cx="74523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904487"/>
            <a:ext cx="7132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A8A63"/>
                </a:solidFill>
                <a:latin typeface="Calibri"/>
              </a:rPr>
              <a:t>Mavi Metal Atölye  •  22 çalışan  •  GÖNÜLLÜ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297680"/>
            <a:ext cx="713232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Zorunluluk yok; aynı CSYS formu. 3 kişilik ekip, 1 proses sayacı + fatura, hedef sepetinden “MET ile suyu azalt”, hortum tabancası ve perlatör fotoğrafı. Yetki onayı yine şart. Yeşile atlamak isterse sıralı beklemez.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Endüstriyel Tesisler için Mavi Su Verimliliği Belgesi  •  Tarım ve Orman Bakanlığı mevzuatı esas alınmıştır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DİJİTAL SÜREÇ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Önce yetki, sonra belge — yalnızca CSYS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Kılavuz 3.1.1.1  •  csys.tarimorman.gov.tr  •  e-Devlet vatandaş girişi  •  kargo/e-posta kabul edilmez</a:t>
            </a:r>
          </a:p>
        </p:txBody>
      </p:sp>
      <p:pic>
        <p:nvPicPr>
          <p:cNvPr id="8" name="Picture 7" descr="ce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353312"/>
            <a:ext cx="3383280" cy="2331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02336" y="1399032"/>
            <a:ext cx="7818120" cy="233172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353312"/>
            <a:ext cx="781812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8132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17904"/>
            <a:ext cx="14173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0A2448"/>
                </a:solidFill>
                <a:latin typeface="Calibri"/>
              </a:rPr>
              <a:t>A. YETKİ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481328"/>
            <a:ext cx="5943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Üç unsur bağlanır: tüzel kişilik + fiziki tesis/fabrika + yetkili kişi. Onay e-postası gelmeden belge ekranı açılmaz.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402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76856"/>
            <a:ext cx="14173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B. BELGE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212848"/>
            <a:ext cx="5943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5 bölüm sırayla yeşile döner: 1) başvuru sahibi (genel + 4’lü/6’lı NACE üretim + evrak)  2) ekip  3) mevcut durum  4) hedefler-eylemler  5) PDF kabul + Başvuruyu Gönder. Kaydet deyip çıkabilirsiniz.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" y="388620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" y="384048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3776" y="4169664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4233672"/>
            <a:ext cx="3840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005072"/>
            <a:ext cx="2971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448"/>
                </a:solidFill>
                <a:latin typeface="Calibri"/>
              </a:rPr>
              <a:t>SGK çalışan sayısı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370832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Başvuru yılı tahakkuk / barkodlu nüsha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8536" y="388620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51960" y="384048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79976" y="4169664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79976" y="4233672"/>
            <a:ext cx="3840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4005072"/>
            <a:ext cx="2971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448"/>
                </a:solidFill>
                <a:latin typeface="Calibri"/>
              </a:rPr>
              <a:t>Oda faaliyet belgesi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4370832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Son 1 yıl, unvan-adres-üretim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74736" y="388620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38160" y="384048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66176" y="4169664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4233672"/>
            <a:ext cx="3840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9952" y="4005072"/>
            <a:ext cx="2971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448"/>
                </a:solidFill>
                <a:latin typeface="Calibri"/>
              </a:rPr>
              <a:t>Kapasite raporu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4370832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Geçerli; beyan edilen NACE yazmalı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2336" y="512064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5760" y="507492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3776" y="5404104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" y="5468112"/>
            <a:ext cx="3840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5239512"/>
            <a:ext cx="2971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448"/>
                </a:solidFill>
                <a:latin typeface="Calibri"/>
              </a:rPr>
              <a:t>Sanayi sicil belgesi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5605272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Güncel; unvan-adres-faaliyet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88536" y="512064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51960" y="507492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79976" y="5404104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79976" y="5468112"/>
            <a:ext cx="3840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73752" y="5239512"/>
            <a:ext cx="2971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448"/>
                </a:solidFill>
                <a:latin typeface="Calibri"/>
              </a:rPr>
              <a:t>Ticaret sicil gazetesi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3752" y="5605272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Şube ise şube bilgisi şart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74736" y="512064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38160" y="5074920"/>
            <a:ext cx="3749039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66176" y="5404104"/>
            <a:ext cx="384048" cy="384048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66176" y="5468112"/>
            <a:ext cx="384048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59952" y="5239512"/>
            <a:ext cx="2971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0A2448"/>
                </a:solidFill>
                <a:latin typeface="Calibri"/>
              </a:rPr>
              <a:t>Çevre izin / muafiyet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59952" y="5605272"/>
            <a:ext cx="2971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5A687A"/>
                </a:solidFill>
                <a:latin typeface="Calibri"/>
              </a:rPr>
              <a:t>Güncel izin veya resmi muafiyet yazısı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565392"/>
            <a:ext cx="8686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Endüstriyel Tesisler için Mavi Su Verimliliği Belgesi  •  Tarım ve Orman Bakanlığı mevzuatı esas alınmıştır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565392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78992"/>
          </a:xfrm>
          <a:prstGeom prst="rect">
            <a:avLst/>
          </a:prstGeom>
          <a:solidFill>
            <a:srgbClr val="0A2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D6942A"/>
                </a:solidFill>
                <a:latin typeface="Calibri"/>
              </a:rPr>
              <a:t>KAPANIŞ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Başvuru öncesi 12 maddelik kontrol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AD6E6"/>
                </a:solidFill>
                <a:latin typeface="Calibri"/>
              </a:rPr>
              <a:t>Hepsi “evet” ise CSYS dosyanız olgun demektir. Dosya ≤15 MB; pdf / jpg / png / tiff.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" y="139903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35331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" y="1517904"/>
            <a:ext cx="347472" cy="347472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46304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NACE (4’lü + 6’lı) fiili üretim ve kapasite raporuyla uyumlu.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139903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35331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1517904"/>
            <a:ext cx="347472" cy="347472"/>
          </a:xfrm>
          <a:prstGeom prst="ellipse">
            <a:avLst/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6304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SGK: başvuru yılı. 49’dan fazla çalışan + YÜKÜMLÜ NACE = zorunlu.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" y="217627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" y="213055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2295144"/>
            <a:ext cx="347472" cy="347472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35000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24028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Yetki onayı alınmış: tüzel kişi + tesis + yetkili eşleşiyor.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217627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213055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2295144"/>
            <a:ext cx="347472" cy="347472"/>
          </a:xfrm>
          <a:prstGeom prst="ellipse">
            <a:avLst/>
          </a:prstGeom>
          <a:solidFill>
            <a:srgbClr val="5C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35000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24028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Ekip: 1 lider + ≥1 eğitim + ≥1 yardımcı; kişi başı en fazla 2 rol.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" y="295351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5760" y="290779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3072384"/>
            <a:ext cx="347472" cy="347472"/>
          </a:xfrm>
          <a:prstGeom prst="ellipse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12724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01752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Mevcut durum 7 sekmesi ve su kütle denkliği dolu.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295351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63640" y="290779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0" y="3072384"/>
            <a:ext cx="347472" cy="347472"/>
          </a:xfrm>
          <a:prstGeom prst="ellipse">
            <a:avLst/>
          </a:prstGeom>
          <a:solidFill>
            <a:srgbClr val="D6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12724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01752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Hedef sepeti + her hedefe ≥1 eylem + 5 yıl termin + maliyet.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" y="373075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5760" y="368503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20" y="3849623"/>
            <a:ext cx="347472" cy="347472"/>
          </a:xfrm>
          <a:prstGeom prst="ellipse">
            <a:avLst/>
          </a:prstGeom>
          <a:solidFill>
            <a:srgbClr val="009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904487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3794759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En az 1 bireysel + 1 sektörel eğitim; imza listesi yüklü.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0216" y="373075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63640" y="3685031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3849623"/>
            <a:ext cx="347472" cy="347472"/>
          </a:xfrm>
          <a:prstGeom prst="ellipse">
            <a:avLst/>
          </a:prstGeom>
          <a:solidFill>
            <a:srgbClr val="247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3904487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794759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Musluk-rezervuar-perlatör ve afiş fotoğrafları sistemde.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2336" y="450799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65760" y="446227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02920" y="4626864"/>
            <a:ext cx="347472" cy="347472"/>
          </a:xfrm>
          <a:prstGeom prst="ellipse">
            <a:avLst/>
          </a:prstGeom>
          <a:solidFill>
            <a:srgbClr val="D69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68172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" y="457200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6 zorunlu evrak: SGK, oda, kapasite, sicil, gazete, çevre izin.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0216" y="450799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63640" y="446227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400800" y="4626864"/>
            <a:ext cx="347472" cy="347472"/>
          </a:xfrm>
          <a:prstGeom prst="ellipse">
            <a:avLst/>
          </a:prstGeom>
          <a:solidFill>
            <a:srgbClr val="5C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468172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457200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Ayrı fabrikalar için ayrı yetki / ayrı belge düşünüldü.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2336" y="528523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65760" y="523951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02920" y="5404104"/>
            <a:ext cx="347472" cy="347472"/>
          </a:xfrm>
          <a:prstGeom prst="ellipse">
            <a:avLst/>
          </a:prstGeom>
          <a:solidFill>
            <a:srgbClr val="1A8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545896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" y="534924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PDF önizleme kabul edildi; “verilerin doğruluğunu taahhüt”.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00216" y="528523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D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263640" y="5239512"/>
            <a:ext cx="57150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00800" y="5404104"/>
            <a:ext cx="347472" cy="347472"/>
          </a:xfrm>
          <a:prstGeom prst="ellipse">
            <a:avLst/>
          </a:prstGeom>
          <a:solidFill>
            <a:srgbClr val="D64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0" y="5458968"/>
            <a:ext cx="34747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5349240"/>
            <a:ext cx="493776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 i="0">
                <a:solidFill>
                  <a:srgbClr val="1C2736"/>
                </a:solidFill>
                <a:latin typeface="Calibri"/>
              </a:rPr>
              <a:t>Statü: incelemede geri alınmaz. 2. revize = red; 60 gün kuralı.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6547104"/>
            <a:ext cx="10241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5A687A"/>
                </a:solidFill>
                <a:latin typeface="Calibri"/>
              </a:rPr>
              <a:t>Kaynak: Mavi Belge Başvuru Kılavuzu 3.1.1.1  •  Su Verimliliği Yönetmeliği (RG 27.12.2024/32765)  •  suverimliligi.gov.tr  •  csys.tarimorman.gov.tr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55680" y="6547104"/>
            <a:ext cx="731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5A687A"/>
                </a:solidFill>
                <a:latin typeface="Calibri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
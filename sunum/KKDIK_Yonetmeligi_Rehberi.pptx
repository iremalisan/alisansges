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2231136" cy="6858000"/>
          </a:xfrm>
          <a:prstGeom prst="rect">
            <a:avLst/>
          </a:prstGeom>
          <a:solidFill>
            <a:srgbClr val="12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246120" cy="34747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ÇŞİDB  •  KİMYASAL KAYIT SİSTEMİ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9144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KKDİK Yönetmeliği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AD6E6"/>
                </a:solidFill>
                <a:latin typeface="Calibri"/>
              </a:rPr>
              <a:t>Kimyasalların Kaydı, Değerlendirilmesi, İzni ve Kısıtlanması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Kimler kapsama girer, sistem nasıl ilerler ve kapsamdaysanız bugün ne yapmalısınız.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23360"/>
            <a:ext cx="5074920" cy="457200"/>
          </a:xfrm>
          <a:prstGeom prst="roundRect">
            <a:avLst>
              <a:gd name="adj" fmla="val 50000"/>
            </a:avLst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96512"/>
            <a:ext cx="5074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C2040"/>
                </a:solidFill>
                <a:latin typeface="Calibri"/>
              </a:rPr>
              <a:t>Kritik eşik  •  30 Eylül 2026 geçici kayıt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1371600"/>
            <a:ext cx="777240" cy="77724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61320" y="1572768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21284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Kapsam</a:t>
            </a:r>
          </a:p>
        </p:txBody>
      </p:sp>
      <p:sp>
        <p:nvSpPr>
          <p:cNvPr id="15" name="Oval 14"/>
          <p:cNvSpPr/>
          <p:nvPr/>
        </p:nvSpPr>
        <p:spPr>
          <a:xfrm>
            <a:off x="10561320" y="2788920"/>
            <a:ext cx="777240" cy="77724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2990088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363016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Süreç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4206240"/>
            <a:ext cx="777240" cy="77724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4407407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504748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 yapmalı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636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0BACC"/>
                </a:solidFill>
                <a:latin typeface="Calibri"/>
              </a:rPr>
              <a:t>Eylül 2026  •  Genel bilgilendirme  •  Resmî başvuru KKS üzerinden yapılır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Temel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KKDİK nedir, neyi düzenler?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Türkiye’nin kimyasal güvenlik sistemi  •  AB REACH ile aynı mantık, ayrı ulusal kayıt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600200"/>
            <a:ext cx="777240" cy="77724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C2040"/>
                </a:solidFill>
                <a:latin typeface="Calibri"/>
              </a:rPr>
              <a:t>Kayıt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71800"/>
            <a:ext cx="2468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Yılda 1 ton ve üzeri maddeyi imal veya ithal eden, teknik dosyayı KKS’ye verir. Veri yoksa madde piyasada duramaz.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788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0" y="1600200"/>
            <a:ext cx="777240" cy="777240"/>
          </a:xfrm>
          <a:prstGeom prst="ellipse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78308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5146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C2040"/>
                </a:solidFill>
                <a:latin typeface="Calibri"/>
              </a:rPr>
              <a:t>Değerlendirme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971800"/>
            <a:ext cx="2468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Bakanlık dosyayı inceler; eksik veri, test ve kimyasal güvenlik raporunu isteyebilir.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2788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1600200"/>
            <a:ext cx="777240" cy="77724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78308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146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C2040"/>
                </a:solidFill>
                <a:latin typeface="Calibri"/>
              </a:rPr>
              <a:t>İzin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71800"/>
            <a:ext cx="2468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Çok yüksek önem arz eden maddeler (SVHC / Ek-14) izne bağlanır; izinsiz kullanım kısıtlanır.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417320"/>
            <a:ext cx="2788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9840" y="1600200"/>
            <a:ext cx="777240" cy="777240"/>
          </a:xfrm>
          <a:prstGeom prst="ellipse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78308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5146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C2040"/>
                </a:solidFill>
                <a:latin typeface="Calibri"/>
              </a:rPr>
              <a:t>Kısıtlama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971800"/>
            <a:ext cx="2468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Ek-17’deki maddelerin imalatı, piyasaya arzı veya kullanımı yasaklanır ya da şartlara bağlanır.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800600"/>
            <a:ext cx="11430000" cy="155448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93776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701C"/>
                </a:solidFill>
                <a:latin typeface="Calibri"/>
              </a:rPr>
              <a:t>Pratik kural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0352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KKDİK “tehlikeli madde yönetmeliği” değildir. Tehlikesiz görünen bir hammadde de, muaf değilse ve yılda 1 tonu aşıyorsa kayıt ister. Kayıt maddeye değil firmaya aittir: tedarikçinizin kaydı, sizin ithalat kaydınızın yerine geçmez — tek istisna, yabancı üreticinin atadığı tek temsilcidir.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Kapsam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Kimler kapsama girer? Rolünüz kaydı belirler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Kayıt ettiren yalnızca Türkiye’de yerleşik gerçek veya tüzel kişidir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28016" cy="1828800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İmalatçı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Türkiye’de maddeyi kendi halinde üretir. Yılda ≥1 ton ise kayıttan sorumludur.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128016" cy="1828800"/>
          </a:xfrm>
          <a:prstGeom prst="rect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36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İthalatçı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3852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Maddeyi veya karışımı gümrükten kendi adına sokar. Tek temsilci yoksa kayıt ithalatçının.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128016" cy="1828800"/>
          </a:xfrm>
          <a:prstGeom prst="rect">
            <a:avLst/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536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Tek temsilci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938528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Yabancı üretici, Türkiye’de bir kişiyi ithalatçı yükümlülüğü için atar. Atama sizi kapsıyorsa ithalatçı alt kullanıcı olur.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375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128016" cy="1828800"/>
          </a:xfrm>
          <a:prstGeom prst="rect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021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Alt kullanıcı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04487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Maddeyi prosesinde kullanır; yurt içi tedarikçiden alır. Kayıt yapmaz, GBF ve kullanım koşullarına uyar.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3375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337560"/>
            <a:ext cx="128016" cy="1828800"/>
          </a:xfrm>
          <a:prstGeom prst="rect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5021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Dağıtıcı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04487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Depolar ve piyasaya arz eder, kendisi kullanmaz. Kayıt yok; tedarik zinciri bilgisini iletir.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337560"/>
            <a:ext cx="374903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337560"/>
            <a:ext cx="128016" cy="1828800"/>
          </a:xfrm>
          <a:prstGeom prst="rect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5021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Eşya üretici / ithalatçı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904487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Boru, parça, mamul. Kayıt yalnızca madde kasıtlı salınıyorsa ve ≥1 ton ise. SVHC ≥ %0,1 ise bildirim doğabilir.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Karar ağacı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Bir madde kapsamda mı? Beş adımda bakın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Karışım kayıt edilmez; içindeki her madde ayrı ayrı tartılır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53312"/>
            <a:ext cx="11430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155448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4592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46304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C2040"/>
                </a:solidFill>
                <a:latin typeface="Calibri"/>
              </a:rPr>
              <a:t>Kimlik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9961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Ticari ad yetmez. GBF bölüm 3’ten CAS / EC alın. Hidrat, tuz ve farklı saflık ayrı madde olabilir.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13432"/>
            <a:ext cx="11430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" y="251460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60604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231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C2040"/>
                </a:solidFill>
                <a:latin typeface="Calibri"/>
              </a:rPr>
              <a:t>Muafiyet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5973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Atık, radyoaktif, transit, ilaç-gıda (kısmi), Ek-4 / Ek-5, polimerin kendisi ve &lt;1 ton kayıt dışıdır.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73552"/>
            <a:ext cx="11430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" y="347472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56616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C2040"/>
                </a:solidFill>
                <a:latin typeface="Calibri"/>
              </a:rPr>
              <a:t>Tonaj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41985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Tüzel kişi + madde + takvim yılı. Üç tedarikçi 400’er kg ise toplam 1,2 tondur — eşik aşılır.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33672"/>
            <a:ext cx="11430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" y="443484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52628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3434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C2040"/>
                </a:solidFill>
                <a:latin typeface="Calibri"/>
              </a:rPr>
              <a:t>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37997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İmal / ithal / tek temsilci = kayıt. Yurt içi alım = alt kullanıcı. Tek temsilci sizi kapsıyorsa kayıt düşer.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93792"/>
            <a:ext cx="11430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0352" y="5394959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48640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0352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0C2040"/>
                </a:solidFill>
                <a:latin typeface="Calibri"/>
              </a:rPr>
              <a:t>Son tarih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34009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Geçici kayıt: 30 Eylül 2026. Tam kayıt: tonaj ve CMR / sucul sınıfa göre 2026, 2028 veya 2030.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Kimler / neler kapsam dışında kalır?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Muafiyet yazılı dayanak olmadan “kapsam dışı” denemez  •  GBF ve SEA çoğu muafiyette devam eder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6692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Yönetmelik kapsamı dışı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8483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116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Radyoaktif maddeler ve karışımlar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72491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5176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İşlemsiz gümrük transiti / serbest bölge depolama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36499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9184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İzole edilmemiş ara maddeler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0507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59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3192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Taşıma (kara, demir, deniz, hava, içsu)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64515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7200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Atık statüsündeki malzemeler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285232"/>
            <a:ext cx="256032" cy="25603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12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Savunma amaçlı madde, karışım ve eşya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371600"/>
            <a:ext cx="55778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153619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57276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Kayıttan (kısmen) muaf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08483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10312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01168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Ek-4 listedeki maddeler (ör. bazı doğal maddeler)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272491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74320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65176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Ek-5 muafiyetleri (belirli doğal, yan ürün vb.)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0" y="336499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8328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29184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Polimerin kendisi (monomer ≥ %2 ve ≥1 ton ise kayıt)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400507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023359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93192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İlaç, veteriner, gıda-yem amaçlı kullanım (kısmi)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464515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66344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57200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PPORD (ürün ve süreç odaklı Ar-Ge) bildirimi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5285232"/>
            <a:ext cx="256032" cy="25603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303520"/>
            <a:ext cx="2560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21208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Yılda 1 tonun altındaki maddeler (kayıt eşiği)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Süreç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Sistem nasıl ilerler? KKS üzerinden yedi adım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Tek madde — tek kayıt  •  Ortak kayıt esastır  •  Dosyayı Kimyasal Değerlendirme Uzmanı (KDU) girer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600200"/>
            <a:ext cx="640080" cy="64008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Envanter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CAS bazında madde listesi, GBF, yıllık tonaj belgesi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87168" y="1600200"/>
            <a:ext cx="640080" cy="64008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EÇBS / KKS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Entegre Çevre Bilgi Sistemi hesabı, yetkili kişi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8808" y="1600200"/>
            <a:ext cx="640080" cy="64008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Ön-MBDF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Aynı maddeyi kaydedeceklerle forum; veri paylaşımı kapısı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70448" y="1600200"/>
            <a:ext cx="640080" cy="64008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Lider / üye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Ortak kayıt grubu, sözleşme, LoA / maliyet paylaşımı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62088" y="1600200"/>
            <a:ext cx="640080" cy="640080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Geçici kayıt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30.09.2026’ya kadar en az bir geçici kayıt numarası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53728" y="1600200"/>
            <a:ext cx="640080" cy="640080"/>
          </a:xfrm>
          <a:prstGeom prst="ellipse">
            <a:avLst/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Tam kayıt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Tonaj ekleri (Ek-7…10), gerekirse KGR / CSR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26060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08C8E"/>
                </a:solidFill>
                <a:latin typeface="Calibr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1417320"/>
            <a:ext cx="1600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45368" y="1600200"/>
            <a:ext cx="640080" cy="640080"/>
          </a:xfrm>
          <a:prstGeom prst="ellipse">
            <a:avLst/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45368" y="17373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C2040"/>
                </a:solidFill>
                <a:latin typeface="Calibri"/>
              </a:rPr>
              <a:t>GBF + izleme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43032" y="3063240"/>
            <a:ext cx="1463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C2736"/>
                </a:solidFill>
                <a:latin typeface="Calibri"/>
              </a:rPr>
              <a:t>Türkçe 16 bölümlü GBF, güncelleme, izin / kısıtlama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46320"/>
            <a:ext cx="11430000" cy="1508760"/>
          </a:xfrm>
          <a:prstGeom prst="roundRect">
            <a:avLst>
              <a:gd name="adj" fmla="val 6000"/>
            </a:avLst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98348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040"/>
                </a:solidFill>
                <a:latin typeface="Calibri"/>
              </a:rPr>
              <a:t>KKS nerede çalışır?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349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Kayıt dosyası EÇBS içindeki Kimyasal Kayıt Sistemi’ne yüklenir. Geçici kayıt şablonu: Madde Yönetimi → Kayıt → KKDİK Geçici Kayıt. Gönderim sonrası döner sermaye referansı oluşur; ödeme KKS’de “Ödeme Yapıldı: Evet” görünmeden dosya değerlendirmeye alınmaz. İletişim: kimyasallar@csb.gov.tr  •  kimyasallar.csb.gov.tr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Takvim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İki zincir: geçici kayıt 2026, tam kayıt 2026–2030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En sık hata: tam kayıt 2030 diye 30 Eylül 2026 geçici kaydı atlamak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30000" cy="141732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C2040"/>
                </a:solidFill>
                <a:latin typeface="Calibri"/>
              </a:rPr>
              <a:t>Şu anki acil eşik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5087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C2040"/>
                </a:solidFill>
                <a:latin typeface="Calibri"/>
              </a:rPr>
              <a:t>30 Eylül 2026  —  üye / bireysel geçici kayıt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1018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Yılda ≥1 ton imal veya ithal eden her firma, tonajdan bağımsız, bu tarihe kadar en az bir geçici kayıt numarası almış olmalıdır. Lider geçici kayıt tarihi (31.03.2026) geçti; lider yoksa gerekçeli bireysel geçici kayıt KKS’den gönderilir. Numarasız madde bu tarihten sonra piyasaya arz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C2040"/>
                </a:solidFill>
                <a:latin typeface="Calibri"/>
              </a:rPr>
              <a:t>Tam kayıt son tarihleri  (Yönetmelik geçici madde — RG 23.12.2023/32408)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9184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146304" cy="777240"/>
          </a:xfrm>
          <a:prstGeom prst="rect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C44040"/>
                </a:solidFill>
                <a:latin typeface="Calibri"/>
              </a:rPr>
              <a:t>31.12.2026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2900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C2736"/>
                </a:solidFill>
                <a:latin typeface="Calibri"/>
              </a:rPr>
              <a:t>≥1.000 t/yıl  •  CMR 1A/1B (≥1 t)  •  Sucul Akut 1 / Kronik 1 (≥100 t, H400/H410)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6052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146304" cy="777240"/>
          </a:xfrm>
          <a:prstGeom prst="rect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2478C4"/>
                </a:solidFill>
                <a:latin typeface="Calibri"/>
              </a:rPr>
              <a:t>31.12.2028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9768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C2736"/>
                </a:solidFill>
                <a:latin typeface="Calibri"/>
              </a:rPr>
              <a:t>≥100 t/yıl  (yukarıdaki özel zararlılık ölçütü taşımayan maddeler)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02920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146304" cy="777240"/>
          </a:xfrm>
          <a:prstGeom prst="rect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1A8A63"/>
                </a:solidFill>
                <a:latin typeface="Calibri"/>
              </a:rPr>
              <a:t>31.12.2030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16636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C2736"/>
                </a:solidFill>
                <a:latin typeface="Calibri"/>
              </a:rPr>
              <a:t>≥1 t/yıl  (1–100 ton bandındaki standart maddeler)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Dosya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Geçici kayıt ile tam kayıt aynı iş değil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Usul ve Esaslar Ek-1  •  Geçici kayıtta da döner sermaye harcı alınır  •  KDU belgesi eklenir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6692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C2040"/>
                </a:solidFill>
                <a:latin typeface="Calibri"/>
              </a:rPr>
              <a:t>Geçici kayıt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Amaç: piyasaya arzın kesilmemesi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Son tarih: 30.09.2026 (üye / bireysel)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16936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KKS şablonu: KKDİK Geçici Kayıt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Madde kimliği, bileşim, analitik bilgi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67912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Kullanım, tesis, tahmini tonaj, GHS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Fizikokimya + güvenli kullanım özeti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18888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Ortak başvuruda değilseniz gerekçe yazın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94376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Ödeme referansı → KKS’de “ödeme evet”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5778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5361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72768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Tam kayıt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6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Amaç: kalıcı kayıt numarası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41448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Son tarih: 2026 / 2028 / 2030 bandı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16936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Teknik dosya + tonaja göre Ek-7…10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92424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≥10 t/yıl: Kimyasal Güvenlik Raporu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67912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Çalışma özetleri, veri paylaşımı / LoA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4340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Lider dosyası + üye bilgisi (ortak kayıt)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18888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Veri yoksa gerekçeli ek süre (en fazla +2 yıl)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94376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•  Kayıt sonrası 3 ay içinde güncelleme kuralı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Yükümlü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İmalatçı, ithalatçı veya tek temsilciyseniz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Kayıt sizin omzunuzdadır  •  30 Eylül 2026 öncesi envanter + KKS + geçici kayıt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82880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3619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Madde envanteri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3852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Tüm ithal / imal kimyasalları CAS ile listeleyin. Karışımda her bileşeni % ve tonaja çevirin.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82880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3619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Rol teyidi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3852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Gümrük beyannamesinde ithalatçı siz misiniz? Tek temsilci atama yazısı sizi kapsıyor mu?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2608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338328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09067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Muafiyet notu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49300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Kapsam dışı diyorsanız Ek madde numarasını dosyaya yazın. Yazılı dayanak yoksa kapsam varsayılır.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2608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38328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7472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09067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KKS + ön-MBDF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9300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EÇBS hesabı, madde sorgu, aynı maddeyi kaydedeceklerle temas, ortak kayıt tercihi.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48056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8640" y="493776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6451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Geçici kayıt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4748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Lider yoksa bireysel geçici kayıt + gerekçe. KDU girişi, harç, ödeme teyidi.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480560"/>
            <a:ext cx="5715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4937760"/>
            <a:ext cx="475488" cy="475488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029200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64515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C2040"/>
                </a:solidFill>
                <a:latin typeface="Calibri"/>
              </a:rPr>
              <a:t>Tam kayıt planı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047488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Tonaj bandı ve CMR/sucul sınıfa göre 2026-2030 dosya, veri ve bütçe takvimi.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Diğer 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Alt kullanıcı, dağıtıcı veya eşya üreticisiyseniz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Kayıt yok diye yükümlülük yok demek değildir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749039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502920"/>
          </a:xfrm>
          <a:prstGeom prst="rect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4475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Alt kullanıcı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Yurt içi tedarikçiden alınan madde / karışım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Kayıt tedarikçinin (veya onun ithalatçısının)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Türkçe KKDİK formatlı GBF isteyin ve saklayın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4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Öngörülen kullanıma uyun; sapmayı bildirin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45152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İzne / kısıtlamaya tabi madde var mı kontrol 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Tonajınız ithalata dönerse rol değişir — izleyin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371600"/>
            <a:ext cx="3749039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371600"/>
            <a:ext cx="3749039" cy="502920"/>
          </a:xfrm>
          <a:prstGeom prst="rect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44475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Dağıtıcı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Kendiniz kullanmazsınız, depolar ve satarsınız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6700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GBF ve etiket bilgisini müşteriye aktarın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28416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Tedarik zincirindeki kayıt numarasını sorun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86784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Yeniden ambalaj / yeniden etiket SEA’ya uyar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45152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İthalata geçerseniz ithalatçı olursunuz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30352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Perakende de bu tanıma dahildir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371600"/>
            <a:ext cx="3749039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371600"/>
            <a:ext cx="3749039" cy="502920"/>
          </a:xfrm>
          <a:prstGeom prst="rect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44475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Eşya üretici / ithalatçı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1168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Boru, panel, makine, ambalajlı mamul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6700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Kasıtlı salınım + ≥1 ton → madde kaydı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28416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SVHC ≥ %0,1 (a/a) ve ≥1 ton → bildirim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86784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CTP / plastik: monomer ve katkıları ayrı bakın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645152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Polimer kayıt dışı olsa da stiren vb. kayıtlı olabilir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•  Müşteriye güvenli kullanım bilgisini verin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Bugün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30 Eylül öncesi 12 maddelik kontrol listesi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Sarı Excel satırlarını doldurduğunuzda kapsam ve son tarih otomatik çıkar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5331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517904"/>
            <a:ext cx="347472" cy="347472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6304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CAS envanteri GBF bölüm 3 ile eşleşiyor.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5331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517904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Karışım bileşenleri % × yıllık miktar = madde tonajı.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055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2295144"/>
            <a:ext cx="347472" cy="347472"/>
          </a:xfrm>
          <a:prstGeom prst="ellipse">
            <a:avLst/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5000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4028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Aynı CAS, tüm tedarikçilerde toplanmış.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13055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229514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5000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4028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Rol: imalatçı / ithalatçı / TT / alt kullanıcı net.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907791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12724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1752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Tek temsilci yazısı sizi ismen kapsıyor mu bakıldı.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907791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3072384"/>
            <a:ext cx="347472" cy="34747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2724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01752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Muafiyet varsa Ek numarası yazılı.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685031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" y="3849623"/>
            <a:ext cx="347472" cy="347472"/>
          </a:xfrm>
          <a:prstGeom prst="ellipse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904487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794759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CMR 1A/1B ve H400/H410 sınıfları tarandı.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685031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3849623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04487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794759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EÇBS + KKS hesabı ve KDU hazır.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46227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2920" y="4626864"/>
            <a:ext cx="347472" cy="347472"/>
          </a:xfrm>
          <a:prstGeom prst="ellipse">
            <a:avLst/>
          </a:prstGeom>
          <a:solidFill>
            <a:srgbClr val="C9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68172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57200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Ön-MBDF / ortak kayıt veya bireysel gerekçe.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46227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462686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68172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57200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Geçici kayıt şablonu + harç + ödeme teyidi.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23951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2920" y="540410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4589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34924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Türkçe 16 bölümlü GBF KDU kimliğiyle duruyor.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5239512"/>
            <a:ext cx="5715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00800" y="5404104"/>
            <a:ext cx="347472" cy="347472"/>
          </a:xfrm>
          <a:prstGeom prst="ellipse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54589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349240"/>
            <a:ext cx="4937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2026 / 2028 / 2030 tam kayıt bütçesi planlandı.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73152"/>
          </a:xfrm>
          <a:prstGeom prst="rect">
            <a:avLst/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"/>
            <a:ext cx="2148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Kaynak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Nereye bakacaksınız, kime soracaksınız?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ED6E6"/>
                </a:solidFill>
                <a:latin typeface="Calibri"/>
              </a:rPr>
              <a:t>Bu rehber genel bilgilendirmedir; bağlayıcı karar KKS ve Bakanlık yazışmasıdır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715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Mevzuat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KKDİK Yönetmeliği RG 23.06.2017/30105 Mükerrer
Değişiklik RG 23.12.2023/32408 (kayıt son tarihleri)
Usul ve Esaslar, 05.08.2025 / 13216050 sayılı Olur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715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5544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9105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Kimyasal Kayıt Sistemi (KKS) — EÇBS uygulaması
kimyasallar.csb.gov.tr  •  Geçici kayıt şablonu ve kılavuzlar
GBF paket programı (Usul ve Esaslar md. 16)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20440"/>
            <a:ext cx="5715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3989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İletişim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Çevre Yönetimi Genel Müdürlüğü
Kimyasallar Yönetimi Dairesi Başkanlığı
kimyasallar@csb.gov.tr  •  +90 312 410 10 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20440"/>
            <a:ext cx="5715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70332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08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39896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Firma içi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5349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KDU (Kimyasal Değerlendirme Uzmanı) ile dosya girişi
Gümrük / satın alma / üretim tonaj kanıtı
Yanındaki Excel: madde satırı = kapsam + son tarih + yapılacak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Uyarı: İdari yaptırım 2872 sayılı Çevre Kanunu’ndandır. Bu sunum hukuki mütalaa yerine geçmez. Madde özelinde KDU ve gerektiğinde Bakanlık yardım masası teyidi alın.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47104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KKDİK  •  RG 23.06.2017/30105 Mükerrer  •  Değişiklik RG 23.12.2023/32408  •  Usul ve Esaslar 05.08.2025  •  kimyasallar.csb.gov.tr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4710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